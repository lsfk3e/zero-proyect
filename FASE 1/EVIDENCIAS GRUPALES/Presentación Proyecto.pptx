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jpg" ContentType="image/jp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95155" y="2259289"/>
            <a:ext cx="1792843" cy="802770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89047" y="111051"/>
            <a:ext cx="11181080" cy="2151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84223" y="3503486"/>
            <a:ext cx="8519794" cy="4111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Relationship Id="rId3" Type="http://schemas.openxmlformats.org/officeDocument/2006/relationships/image" Target="../media/image29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45261"/>
            <a:ext cx="5262880" cy="10142220"/>
            <a:chOff x="0" y="145261"/>
            <a:chExt cx="5262880" cy="101422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88960"/>
              <a:ext cx="5262609" cy="7302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45261"/>
              <a:ext cx="5068435" cy="10141738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880458" y="145261"/>
            <a:ext cx="4048124" cy="885824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521855" y="1242915"/>
            <a:ext cx="9244330" cy="2368550"/>
          </a:xfrm>
          <a:prstGeom prst="rect"/>
        </p:spPr>
        <p:txBody>
          <a:bodyPr wrap="square" lIns="0" tIns="108585" rIns="0" bIns="0" rtlCol="0" vert="horz">
            <a:spAutoFit/>
          </a:bodyPr>
          <a:lstStyle/>
          <a:p>
            <a:pPr algn="ctr" marL="12700" marR="5080" indent="-635">
              <a:lnSpc>
                <a:spcPts val="5930"/>
              </a:lnSpc>
              <a:spcBef>
                <a:spcPts val="855"/>
              </a:spcBef>
            </a:pPr>
            <a:r>
              <a:rPr dirty="0" sz="5500" spc="340">
                <a:solidFill>
                  <a:srgbClr val="F2F2F6"/>
                </a:solidFill>
                <a:latin typeface="Trebuchet MS"/>
                <a:cs typeface="Trebuchet MS"/>
              </a:rPr>
              <a:t>SISTEMA</a:t>
            </a:r>
            <a:r>
              <a:rPr dirty="0" sz="5500" spc="-480">
                <a:solidFill>
                  <a:srgbClr val="F2F2F6"/>
                </a:solidFill>
                <a:latin typeface="Trebuchet MS"/>
                <a:cs typeface="Trebuchet MS"/>
              </a:rPr>
              <a:t> </a:t>
            </a:r>
            <a:r>
              <a:rPr dirty="0" sz="5500" spc="145">
                <a:solidFill>
                  <a:srgbClr val="F2F2F6"/>
                </a:solidFill>
                <a:latin typeface="Trebuchet MS"/>
                <a:cs typeface="Trebuchet MS"/>
              </a:rPr>
              <a:t>DE</a:t>
            </a:r>
            <a:r>
              <a:rPr dirty="0" sz="5500" spc="-480">
                <a:solidFill>
                  <a:srgbClr val="F2F2F6"/>
                </a:solidFill>
                <a:latin typeface="Trebuchet MS"/>
                <a:cs typeface="Trebuchet MS"/>
              </a:rPr>
              <a:t> </a:t>
            </a:r>
            <a:r>
              <a:rPr dirty="0" sz="5500" spc="295">
                <a:solidFill>
                  <a:srgbClr val="F2F2F6"/>
                </a:solidFill>
                <a:latin typeface="Trebuchet MS"/>
                <a:cs typeface="Trebuchet MS"/>
              </a:rPr>
              <a:t>PROTECCIÓN </a:t>
            </a:r>
            <a:r>
              <a:rPr dirty="0" sz="5500" spc="300">
                <a:solidFill>
                  <a:srgbClr val="F2F2F6"/>
                </a:solidFill>
                <a:latin typeface="Trebuchet MS"/>
                <a:cs typeface="Trebuchet MS"/>
              </a:rPr>
              <a:t>REMOTA</a:t>
            </a:r>
            <a:r>
              <a:rPr dirty="0" sz="5500" spc="-484">
                <a:solidFill>
                  <a:srgbClr val="F2F2F6"/>
                </a:solidFill>
                <a:latin typeface="Trebuchet MS"/>
                <a:cs typeface="Trebuchet MS"/>
              </a:rPr>
              <a:t> </a:t>
            </a:r>
            <a:r>
              <a:rPr dirty="0" sz="5500" spc="145">
                <a:solidFill>
                  <a:srgbClr val="F2F2F6"/>
                </a:solidFill>
                <a:latin typeface="Trebuchet MS"/>
                <a:cs typeface="Trebuchet MS"/>
              </a:rPr>
              <a:t>DE</a:t>
            </a:r>
            <a:r>
              <a:rPr dirty="0" sz="5500" spc="-484">
                <a:solidFill>
                  <a:srgbClr val="F2F2F6"/>
                </a:solidFill>
                <a:latin typeface="Trebuchet MS"/>
                <a:cs typeface="Trebuchet MS"/>
              </a:rPr>
              <a:t> </a:t>
            </a:r>
            <a:r>
              <a:rPr dirty="0" sz="5500" spc="365">
                <a:solidFill>
                  <a:srgbClr val="F2F2F6"/>
                </a:solidFill>
                <a:latin typeface="Trebuchet MS"/>
                <a:cs typeface="Trebuchet MS"/>
              </a:rPr>
              <a:t>INFORMACIÓN </a:t>
            </a:r>
            <a:r>
              <a:rPr dirty="0" sz="5500" spc="140">
                <a:solidFill>
                  <a:srgbClr val="F2F2F6"/>
                </a:solidFill>
                <a:latin typeface="Trebuchet MS"/>
                <a:cs typeface="Trebuchet MS"/>
              </a:rPr>
              <a:t>SENSIBLE</a:t>
            </a:r>
            <a:endParaRPr sz="55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29742" y="6467224"/>
            <a:ext cx="85725" cy="857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29742" y="6838698"/>
            <a:ext cx="85725" cy="857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29742" y="7210173"/>
            <a:ext cx="85725" cy="857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333823" y="4519999"/>
            <a:ext cx="4773930" cy="4573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7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20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3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4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9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3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405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dirty="0" sz="2000" spc="15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2000" spc="-4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26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000" spc="15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2000" spc="9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z="20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3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22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2000">
              <a:latin typeface="Verdana"/>
              <a:cs typeface="Verdana"/>
            </a:endParaRPr>
          </a:p>
          <a:p>
            <a:pPr marL="304800">
              <a:lnSpc>
                <a:spcPct val="100000"/>
              </a:lnSpc>
            </a:pPr>
            <a:r>
              <a:rPr dirty="0" sz="2000" spc="-26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0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0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0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0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z="20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3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0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0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0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0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000" spc="1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2000" spc="-455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2000">
              <a:latin typeface="Verdana"/>
              <a:cs typeface="Verdana"/>
            </a:endParaRPr>
          </a:p>
          <a:p>
            <a:pPr marL="1346200">
              <a:lnSpc>
                <a:spcPct val="100000"/>
              </a:lnSpc>
            </a:pPr>
            <a:r>
              <a:rPr dirty="0" sz="2000" spc="-35">
                <a:solidFill>
                  <a:srgbClr val="FFFFFF"/>
                </a:solidFill>
                <a:latin typeface="Verdana"/>
                <a:cs typeface="Verdana"/>
              </a:rPr>
              <a:t>K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3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0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000" spc="15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2000" spc="9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0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3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z="20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  <a:p>
            <a:pPr marL="1346200" marR="674370">
              <a:lnSpc>
                <a:spcPct val="121900"/>
              </a:lnSpc>
            </a:pP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0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0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26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0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000" spc="5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J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0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3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0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dirty="0" sz="20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0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3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0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0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0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26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000" spc="2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2000" spc="-7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0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26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0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2000">
              <a:latin typeface="Verdana"/>
              <a:cs typeface="Verdana"/>
            </a:endParaRPr>
          </a:p>
          <a:p>
            <a:pPr marL="12700" marR="390525">
              <a:lnSpc>
                <a:spcPct val="242200"/>
              </a:lnSpc>
              <a:spcBef>
                <a:spcPts val="1720"/>
              </a:spcBef>
            </a:pP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9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0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26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z="20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0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0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3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0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405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dirty="0" sz="2000" spc="2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2000" spc="22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0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9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0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0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0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Verdana"/>
                <a:cs typeface="Verdana"/>
              </a:rPr>
              <a:t>E </a:t>
            </a:r>
            <a:r>
              <a:rPr dirty="0" sz="2000" spc="-9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0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22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22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26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Verdana"/>
                <a:cs typeface="Verdana"/>
              </a:rPr>
              <a:t>Ó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405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dirty="0" sz="2000" spc="1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2000" spc="11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r>
              <a:rPr dirty="0" sz="20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11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509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dirty="0" sz="20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700943" y="4712996"/>
            <a:ext cx="6587490" cy="5574030"/>
            <a:chOff x="11700943" y="4712996"/>
            <a:chExt cx="6587490" cy="557403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64223" y="4712996"/>
              <a:ext cx="3423777" cy="557400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00943" y="6257237"/>
              <a:ext cx="6587056" cy="40297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65803" y="372173"/>
            <a:ext cx="15556865" cy="2151380"/>
          </a:xfrm>
          <a:prstGeom prst="rect"/>
        </p:spPr>
        <p:txBody>
          <a:bodyPr wrap="square" lIns="0" tIns="93980" rIns="0" bIns="0" rtlCol="0" vert="horz">
            <a:spAutoFit/>
          </a:bodyPr>
          <a:lstStyle/>
          <a:p>
            <a:pPr marL="5520690" marR="5080" indent="-5508625">
              <a:lnSpc>
                <a:spcPts val="8100"/>
              </a:lnSpc>
              <a:spcBef>
                <a:spcPts val="740"/>
              </a:spcBef>
            </a:pPr>
            <a:r>
              <a:rPr dirty="0" spc="2005"/>
              <a:t>EQUIPO</a:t>
            </a:r>
            <a:r>
              <a:rPr dirty="0" spc="-204"/>
              <a:t> </a:t>
            </a:r>
            <a:r>
              <a:rPr dirty="0" spc="2450"/>
              <a:t>DE</a:t>
            </a:r>
            <a:r>
              <a:rPr dirty="0" spc="-200"/>
              <a:t> </a:t>
            </a:r>
            <a:r>
              <a:rPr dirty="0" spc="2730"/>
              <a:t>TRABAJO</a:t>
            </a:r>
            <a:r>
              <a:rPr dirty="0" spc="-200"/>
              <a:t> </a:t>
            </a:r>
            <a:r>
              <a:rPr dirty="0" spc="2830"/>
              <a:t>Y </a:t>
            </a:r>
            <a:r>
              <a:rPr dirty="0" spc="2120"/>
              <a:t>ROLES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11660"/>
            <a:ext cx="3651136" cy="73025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86014" y="3009900"/>
            <a:ext cx="3663950" cy="1323975"/>
          </a:xfrm>
          <a:prstGeom prst="rect">
            <a:avLst/>
          </a:prstGeom>
          <a:solidFill>
            <a:srgbClr val="8198BA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600" spc="75" b="1">
                <a:latin typeface="Trebuchet MS"/>
                <a:cs typeface="Trebuchet MS"/>
              </a:rPr>
              <a:t>Integrante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40147" y="3009900"/>
            <a:ext cx="3613785" cy="1323975"/>
          </a:xfrm>
          <a:prstGeom prst="rect">
            <a:avLst/>
          </a:prstGeom>
          <a:solidFill>
            <a:srgbClr val="8198BA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600">
              <a:latin typeface="Times New Roman"/>
              <a:cs typeface="Times New Roman"/>
            </a:endParaRPr>
          </a:p>
          <a:p>
            <a:pPr marL="1153795">
              <a:lnSpc>
                <a:spcPct val="100000"/>
              </a:lnSpc>
            </a:pPr>
            <a:r>
              <a:rPr dirty="0" sz="1600" spc="50" b="1">
                <a:latin typeface="Trebuchet MS"/>
                <a:cs typeface="Trebuchet MS"/>
              </a:rPr>
              <a:t>Rol</a:t>
            </a:r>
            <a:r>
              <a:rPr dirty="0" sz="1600" spc="-135" b="1">
                <a:latin typeface="Trebuchet MS"/>
                <a:cs typeface="Trebuchet MS"/>
              </a:rPr>
              <a:t> </a:t>
            </a:r>
            <a:r>
              <a:rPr dirty="0" sz="1600" spc="70" b="1">
                <a:latin typeface="Trebuchet MS"/>
                <a:cs typeface="Trebuchet MS"/>
              </a:rPr>
              <a:t>principal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44294" y="3009900"/>
            <a:ext cx="6525259" cy="1323975"/>
          </a:xfrm>
          <a:prstGeom prst="rect">
            <a:avLst/>
          </a:prstGeom>
          <a:solidFill>
            <a:srgbClr val="8198BA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600" spc="-10">
                <a:latin typeface="Arial Black"/>
                <a:cs typeface="Arial Black"/>
              </a:rPr>
              <a:t>Responsabilidades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6014" y="4524375"/>
            <a:ext cx="3663950" cy="1543050"/>
          </a:xfrm>
          <a:prstGeom prst="rect">
            <a:avLst/>
          </a:prstGeom>
          <a:solidFill>
            <a:srgbClr val="97A3B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600">
              <a:latin typeface="Times New Roman"/>
              <a:cs typeface="Times New Roman"/>
            </a:endParaRPr>
          </a:p>
          <a:p>
            <a:pPr marL="664210">
              <a:lnSpc>
                <a:spcPct val="100000"/>
              </a:lnSpc>
            </a:pPr>
            <a:r>
              <a:rPr dirty="0" sz="1600">
                <a:latin typeface="Lucida Sans Unicode"/>
                <a:cs typeface="Lucida Sans Unicode"/>
              </a:rPr>
              <a:t>Antonia</a:t>
            </a:r>
            <a:r>
              <a:rPr dirty="0" sz="1600" spc="-5">
                <a:latin typeface="Lucida Sans Unicode"/>
                <a:cs typeface="Lucida Sans Unicode"/>
              </a:rPr>
              <a:t> </a:t>
            </a:r>
            <a:r>
              <a:rPr dirty="0" sz="1600">
                <a:latin typeface="Lucida Sans Unicode"/>
                <a:cs typeface="Lucida Sans Unicode"/>
              </a:rPr>
              <a:t>Elias </a:t>
            </a:r>
            <a:r>
              <a:rPr dirty="0" sz="1600" spc="70">
                <a:latin typeface="Lucida Sans Unicode"/>
                <a:cs typeface="Lucida Sans Unicode"/>
              </a:rPr>
              <a:t>Olaechea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0147" y="4524375"/>
            <a:ext cx="3613785" cy="1543050"/>
          </a:xfrm>
          <a:prstGeom prst="rect">
            <a:avLst/>
          </a:prstGeom>
          <a:solidFill>
            <a:srgbClr val="B3B9C6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600">
              <a:latin typeface="Times New Roman"/>
              <a:cs typeface="Times New Roman"/>
            </a:endParaRPr>
          </a:p>
          <a:p>
            <a:pPr marL="327660">
              <a:lnSpc>
                <a:spcPct val="100000"/>
              </a:lnSpc>
            </a:pPr>
            <a:r>
              <a:rPr dirty="0" sz="1600">
                <a:latin typeface="Verdana"/>
                <a:cs typeface="Verdana"/>
              </a:rPr>
              <a:t>Líder</a:t>
            </a:r>
            <a:r>
              <a:rPr dirty="0" sz="1600" spc="-130">
                <a:latin typeface="Verdana"/>
                <a:cs typeface="Verdana"/>
              </a:rPr>
              <a:t> </a:t>
            </a:r>
            <a:r>
              <a:rPr dirty="0" sz="1600" spc="80">
                <a:latin typeface="Verdana"/>
                <a:cs typeface="Verdana"/>
              </a:rPr>
              <a:t>de</a:t>
            </a:r>
            <a:r>
              <a:rPr dirty="0" sz="1600" spc="-95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Proyecto</a:t>
            </a:r>
            <a:r>
              <a:rPr dirty="0" sz="1600" spc="-140">
                <a:latin typeface="Verdana"/>
                <a:cs typeface="Verdana"/>
              </a:rPr>
              <a:t> </a:t>
            </a:r>
            <a:r>
              <a:rPr dirty="0" sz="1600" spc="-55">
                <a:latin typeface="Verdana"/>
                <a:cs typeface="Verdana"/>
              </a:rPr>
              <a:t>y</a:t>
            </a:r>
            <a:r>
              <a:rPr dirty="0" sz="1600" spc="-130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Sistemas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44294" y="4524375"/>
            <a:ext cx="6525259" cy="1543050"/>
          </a:xfrm>
          <a:prstGeom prst="rect">
            <a:avLst/>
          </a:prstGeom>
          <a:solidFill>
            <a:srgbClr val="B3B9C6"/>
          </a:solidFill>
        </p:spPr>
        <p:txBody>
          <a:bodyPr wrap="square" lIns="0" tIns="183515" rIns="0" bIns="0" rtlCol="0" vert="horz">
            <a:spAutoFit/>
          </a:bodyPr>
          <a:lstStyle/>
          <a:p>
            <a:pPr algn="ctr" marL="747395" marR="739775">
              <a:lnSpc>
                <a:spcPct val="113300"/>
              </a:lnSpc>
              <a:spcBef>
                <a:spcPts val="1445"/>
              </a:spcBef>
            </a:pPr>
            <a:r>
              <a:rPr dirty="0" sz="1600">
                <a:latin typeface="Verdana"/>
                <a:cs typeface="Verdana"/>
              </a:rPr>
              <a:t>Coordinar</a:t>
            </a:r>
            <a:r>
              <a:rPr dirty="0" sz="1600" spc="-55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al</a:t>
            </a:r>
            <a:r>
              <a:rPr dirty="0" sz="1600" spc="-70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equipo,</a:t>
            </a:r>
            <a:r>
              <a:rPr dirty="0" sz="1600" spc="-65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organizar</a:t>
            </a:r>
            <a:r>
              <a:rPr dirty="0" sz="1600" spc="-125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tareas,</a:t>
            </a:r>
            <a:r>
              <a:rPr dirty="0" sz="1600" spc="-20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analizar </a:t>
            </a:r>
            <a:r>
              <a:rPr dirty="0" sz="1600">
                <a:latin typeface="Verdana"/>
                <a:cs typeface="Verdana"/>
              </a:rPr>
              <a:t>requerimientos</a:t>
            </a:r>
            <a:r>
              <a:rPr dirty="0" sz="1600" spc="-90">
                <a:latin typeface="Verdana"/>
                <a:cs typeface="Verdana"/>
              </a:rPr>
              <a:t> </a:t>
            </a:r>
            <a:r>
              <a:rPr dirty="0" sz="1600" spc="-55">
                <a:latin typeface="Verdana"/>
                <a:cs typeface="Verdana"/>
              </a:rPr>
              <a:t>y</a:t>
            </a:r>
            <a:r>
              <a:rPr dirty="0" sz="1600" spc="-85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supervisar</a:t>
            </a:r>
            <a:r>
              <a:rPr dirty="0" sz="1600" spc="-15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la</a:t>
            </a:r>
            <a:r>
              <a:rPr dirty="0" sz="1600" spc="15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integración</a:t>
            </a:r>
            <a:r>
              <a:rPr dirty="0" sz="1600" spc="-30">
                <a:latin typeface="Verdana"/>
                <a:cs typeface="Verdana"/>
              </a:rPr>
              <a:t> </a:t>
            </a:r>
            <a:r>
              <a:rPr dirty="0" sz="1600" spc="80">
                <a:latin typeface="Verdana"/>
                <a:cs typeface="Verdana"/>
              </a:rPr>
              <a:t>de</a:t>
            </a:r>
            <a:r>
              <a:rPr dirty="0" sz="1600" spc="-35">
                <a:latin typeface="Verdana"/>
                <a:cs typeface="Verdana"/>
              </a:rPr>
              <a:t> </a:t>
            </a:r>
            <a:r>
              <a:rPr dirty="0" sz="1600" spc="-25">
                <a:latin typeface="Verdana"/>
                <a:cs typeface="Verdana"/>
              </a:rPr>
              <a:t>los </a:t>
            </a:r>
            <a:r>
              <a:rPr dirty="0" sz="1600" spc="-10">
                <a:latin typeface="Verdana"/>
                <a:cs typeface="Verdana"/>
              </a:rPr>
              <a:t>componentes.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86014" y="6257924"/>
            <a:ext cx="3663950" cy="1543050"/>
          </a:xfrm>
          <a:prstGeom prst="rect">
            <a:avLst/>
          </a:prstGeom>
          <a:solidFill>
            <a:srgbClr val="97A3B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600">
              <a:latin typeface="Times New Roman"/>
              <a:cs typeface="Times New Roman"/>
            </a:endParaRPr>
          </a:p>
          <a:p>
            <a:pPr marL="832485">
              <a:lnSpc>
                <a:spcPct val="100000"/>
              </a:lnSpc>
            </a:pPr>
            <a:r>
              <a:rPr dirty="0" sz="1600">
                <a:latin typeface="Lucida Sans Unicode"/>
                <a:cs typeface="Lucida Sans Unicode"/>
              </a:rPr>
              <a:t>Karla</a:t>
            </a:r>
            <a:r>
              <a:rPr dirty="0" sz="1600" spc="130">
                <a:latin typeface="Lucida Sans Unicode"/>
                <a:cs typeface="Lucida Sans Unicode"/>
              </a:rPr>
              <a:t> </a:t>
            </a:r>
            <a:r>
              <a:rPr dirty="0" sz="1600">
                <a:latin typeface="Lucida Sans Unicode"/>
                <a:cs typeface="Lucida Sans Unicode"/>
              </a:rPr>
              <a:t>Ortega</a:t>
            </a:r>
            <a:r>
              <a:rPr dirty="0" sz="1600" spc="135">
                <a:latin typeface="Lucida Sans Unicode"/>
                <a:cs typeface="Lucida Sans Unicode"/>
              </a:rPr>
              <a:t> </a:t>
            </a:r>
            <a:r>
              <a:rPr dirty="0" sz="1600" spc="-20">
                <a:latin typeface="Lucida Sans Unicode"/>
                <a:cs typeface="Lucida Sans Unicode"/>
              </a:rPr>
              <a:t>Muñoz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0147" y="6257924"/>
            <a:ext cx="3613785" cy="1543050"/>
          </a:xfrm>
          <a:prstGeom prst="rect">
            <a:avLst/>
          </a:prstGeom>
          <a:solidFill>
            <a:srgbClr val="B3B9C6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600">
              <a:latin typeface="Times New Roman"/>
              <a:cs typeface="Times New Roman"/>
            </a:endParaRPr>
          </a:p>
          <a:p>
            <a:pPr marL="763905">
              <a:lnSpc>
                <a:spcPct val="100000"/>
              </a:lnSpc>
            </a:pPr>
            <a:r>
              <a:rPr dirty="0" sz="1600">
                <a:latin typeface="Verdana"/>
                <a:cs typeface="Verdana"/>
              </a:rPr>
              <a:t>Desarrollo</a:t>
            </a:r>
            <a:r>
              <a:rPr dirty="0" sz="1600" spc="-185">
                <a:latin typeface="Verdana"/>
                <a:cs typeface="Verdana"/>
              </a:rPr>
              <a:t> </a:t>
            </a:r>
            <a:r>
              <a:rPr dirty="0" sz="1600" spc="65">
                <a:latin typeface="Verdana"/>
                <a:cs typeface="Verdana"/>
              </a:rPr>
              <a:t>e</a:t>
            </a:r>
            <a:r>
              <a:rPr dirty="0" sz="1600" spc="-140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Interfaz</a:t>
            </a:r>
            <a:endParaRPr sz="16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818689"/>
            <a:ext cx="6830583" cy="246831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04761" y="6632461"/>
            <a:ext cx="4683238" cy="365453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444294" y="6257924"/>
            <a:ext cx="6525259" cy="1543050"/>
          </a:xfrm>
          <a:prstGeom prst="rect">
            <a:avLst/>
          </a:prstGeom>
          <a:solidFill>
            <a:srgbClr val="B3B9C6"/>
          </a:solidFill>
        </p:spPr>
        <p:txBody>
          <a:bodyPr wrap="square" lIns="0" tIns="183515" rIns="0" bIns="0" rtlCol="0" vert="horz">
            <a:spAutoFit/>
          </a:bodyPr>
          <a:lstStyle/>
          <a:p>
            <a:pPr algn="ctr" marL="508000" marR="500380">
              <a:lnSpc>
                <a:spcPct val="113300"/>
              </a:lnSpc>
              <a:spcBef>
                <a:spcPts val="1445"/>
              </a:spcBef>
            </a:pPr>
            <a:r>
              <a:rPr dirty="0" sz="1600">
                <a:latin typeface="Verdana"/>
                <a:cs typeface="Verdana"/>
              </a:rPr>
              <a:t>Desarrollar</a:t>
            </a:r>
            <a:r>
              <a:rPr dirty="0" sz="1600" spc="-120">
                <a:latin typeface="Verdana"/>
                <a:cs typeface="Verdana"/>
              </a:rPr>
              <a:t> </a:t>
            </a:r>
            <a:r>
              <a:rPr dirty="0" sz="1600" spc="10">
                <a:latin typeface="Verdana"/>
                <a:cs typeface="Verdana"/>
              </a:rPr>
              <a:t>el</a:t>
            </a:r>
            <a:r>
              <a:rPr dirty="0" sz="1600" spc="-40">
                <a:latin typeface="Verdana"/>
                <a:cs typeface="Verdana"/>
              </a:rPr>
              <a:t> </a:t>
            </a:r>
            <a:r>
              <a:rPr dirty="0" sz="1600" spc="10">
                <a:latin typeface="Verdana"/>
                <a:cs typeface="Verdana"/>
              </a:rPr>
              <a:t>panel</a:t>
            </a:r>
            <a:r>
              <a:rPr dirty="0" sz="1600" spc="-80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web,</a:t>
            </a:r>
            <a:r>
              <a:rPr dirty="0" sz="1600" spc="-40">
                <a:latin typeface="Verdana"/>
                <a:cs typeface="Verdana"/>
              </a:rPr>
              <a:t> </a:t>
            </a:r>
            <a:r>
              <a:rPr dirty="0" sz="1600" spc="10">
                <a:latin typeface="Verdana"/>
                <a:cs typeface="Verdana"/>
              </a:rPr>
              <a:t>implementar</a:t>
            </a:r>
            <a:r>
              <a:rPr dirty="0" sz="1600" spc="-120">
                <a:latin typeface="Verdana"/>
                <a:cs typeface="Verdana"/>
              </a:rPr>
              <a:t> </a:t>
            </a:r>
            <a:r>
              <a:rPr dirty="0" sz="1600" spc="10">
                <a:latin typeface="Verdana"/>
                <a:cs typeface="Verdana"/>
              </a:rPr>
              <a:t>el</a:t>
            </a:r>
            <a:r>
              <a:rPr dirty="0" sz="1600" spc="-80">
                <a:latin typeface="Verdana"/>
                <a:cs typeface="Verdana"/>
              </a:rPr>
              <a:t> </a:t>
            </a:r>
            <a:r>
              <a:rPr dirty="0" sz="1600" spc="10">
                <a:latin typeface="Verdana"/>
                <a:cs typeface="Verdana"/>
              </a:rPr>
              <a:t>dashboard</a:t>
            </a:r>
            <a:r>
              <a:rPr dirty="0" sz="1600" spc="-85">
                <a:latin typeface="Verdana"/>
                <a:cs typeface="Verdana"/>
              </a:rPr>
              <a:t> </a:t>
            </a:r>
            <a:r>
              <a:rPr dirty="0" sz="1600" spc="-50">
                <a:latin typeface="Verdana"/>
                <a:cs typeface="Verdana"/>
              </a:rPr>
              <a:t>y </a:t>
            </a:r>
            <a:r>
              <a:rPr dirty="0" sz="1600">
                <a:latin typeface="Verdana"/>
                <a:cs typeface="Verdana"/>
              </a:rPr>
              <a:t>apoyar</a:t>
            </a:r>
            <a:r>
              <a:rPr dirty="0" sz="1600" spc="-95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en</a:t>
            </a:r>
            <a:r>
              <a:rPr dirty="0" sz="1600" spc="-10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la</a:t>
            </a:r>
            <a:r>
              <a:rPr dirty="0" sz="1600" spc="-60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gestión</a:t>
            </a:r>
            <a:r>
              <a:rPr dirty="0" sz="1600" spc="-60">
                <a:latin typeface="Verdana"/>
                <a:cs typeface="Verdana"/>
              </a:rPr>
              <a:t> </a:t>
            </a:r>
            <a:r>
              <a:rPr dirty="0" sz="1600" spc="-55">
                <a:latin typeface="Verdana"/>
                <a:cs typeface="Verdana"/>
              </a:rPr>
              <a:t>y</a:t>
            </a:r>
            <a:r>
              <a:rPr dirty="0" sz="1600" spc="-105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visualización</a:t>
            </a:r>
            <a:r>
              <a:rPr dirty="0" sz="1600" spc="-60">
                <a:latin typeface="Verdana"/>
                <a:cs typeface="Verdana"/>
              </a:rPr>
              <a:t> </a:t>
            </a:r>
            <a:r>
              <a:rPr dirty="0" sz="1600" spc="80">
                <a:latin typeface="Verdana"/>
                <a:cs typeface="Verdana"/>
              </a:rPr>
              <a:t>de</a:t>
            </a:r>
            <a:r>
              <a:rPr dirty="0" sz="1600" spc="-110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dispositivos</a:t>
            </a:r>
            <a:r>
              <a:rPr dirty="0" sz="1600" spc="-105">
                <a:latin typeface="Verdana"/>
                <a:cs typeface="Verdana"/>
              </a:rPr>
              <a:t> </a:t>
            </a:r>
            <a:r>
              <a:rPr dirty="0" sz="1600" spc="-50">
                <a:latin typeface="Verdana"/>
                <a:cs typeface="Verdana"/>
              </a:rPr>
              <a:t>y </a:t>
            </a:r>
            <a:r>
              <a:rPr dirty="0" sz="1600" spc="-10">
                <a:latin typeface="Verdana"/>
                <a:cs typeface="Verdana"/>
              </a:rPr>
              <a:t>eventos.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86014" y="7991475"/>
            <a:ext cx="3663950" cy="1266825"/>
          </a:xfrm>
          <a:prstGeom prst="rect">
            <a:avLst/>
          </a:prstGeom>
          <a:solidFill>
            <a:srgbClr val="97A3B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600">
              <a:latin typeface="Times New Roman"/>
              <a:cs typeface="Times New Roman"/>
            </a:endParaRPr>
          </a:p>
          <a:p>
            <a:pPr marL="621030">
              <a:lnSpc>
                <a:spcPct val="100000"/>
              </a:lnSpc>
            </a:pPr>
            <a:r>
              <a:rPr dirty="0" sz="1600" spc="-55">
                <a:latin typeface="Lucida Sans Unicode"/>
                <a:cs typeface="Lucida Sans Unicode"/>
              </a:rPr>
              <a:t>Luis</a:t>
            </a:r>
            <a:r>
              <a:rPr dirty="0" sz="1600" spc="-65">
                <a:latin typeface="Lucida Sans Unicode"/>
                <a:cs typeface="Lucida Sans Unicode"/>
              </a:rPr>
              <a:t> </a:t>
            </a:r>
            <a:r>
              <a:rPr dirty="0" sz="1600" spc="75">
                <a:latin typeface="Lucida Sans Unicode"/>
                <a:cs typeface="Lucida Sans Unicode"/>
              </a:rPr>
              <a:t>Jorquera</a:t>
            </a:r>
            <a:r>
              <a:rPr dirty="0" sz="1600" spc="-65">
                <a:latin typeface="Lucida Sans Unicode"/>
                <a:cs typeface="Lucida Sans Unicode"/>
              </a:rPr>
              <a:t> </a:t>
            </a:r>
            <a:r>
              <a:rPr dirty="0" sz="1600" spc="70">
                <a:latin typeface="Lucida Sans Unicode"/>
                <a:cs typeface="Lucida Sans Unicode"/>
              </a:rPr>
              <a:t>Ahumada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40147" y="7991475"/>
            <a:ext cx="3613785" cy="1266825"/>
          </a:xfrm>
          <a:prstGeom prst="rect">
            <a:avLst/>
          </a:prstGeom>
          <a:solidFill>
            <a:srgbClr val="B3B9C6"/>
          </a:solidFill>
        </p:spPr>
        <p:txBody>
          <a:bodyPr wrap="square" lIns="0" tIns="1250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85"/>
              </a:spcBef>
            </a:pPr>
            <a:endParaRPr sz="1600">
              <a:latin typeface="Times New Roman"/>
              <a:cs typeface="Times New Roman"/>
            </a:endParaRPr>
          </a:p>
          <a:p>
            <a:pPr marL="635635">
              <a:lnSpc>
                <a:spcPct val="100000"/>
              </a:lnSpc>
            </a:pPr>
            <a:r>
              <a:rPr dirty="0" sz="1600">
                <a:latin typeface="Verdana"/>
                <a:cs typeface="Verdana"/>
              </a:rPr>
              <a:t>Desarrollo</a:t>
            </a:r>
            <a:r>
              <a:rPr dirty="0" sz="1600" spc="-180">
                <a:latin typeface="Verdana"/>
                <a:cs typeface="Verdana"/>
              </a:rPr>
              <a:t> </a:t>
            </a:r>
            <a:r>
              <a:rPr dirty="0" sz="1600" spc="-55">
                <a:latin typeface="Verdana"/>
                <a:cs typeface="Verdana"/>
              </a:rPr>
              <a:t>y</a:t>
            </a:r>
            <a:r>
              <a:rPr dirty="0" sz="1600" spc="-165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Seguridad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44294" y="7991475"/>
            <a:ext cx="6525259" cy="1266825"/>
          </a:xfrm>
          <a:prstGeom prst="rect">
            <a:avLst/>
          </a:prstGeom>
          <a:solidFill>
            <a:srgbClr val="B3B9C6"/>
          </a:solidFill>
        </p:spPr>
        <p:txBody>
          <a:bodyPr wrap="square" lIns="0" tIns="183515" rIns="0" bIns="0" rtlCol="0" vert="horz">
            <a:spAutoFit/>
          </a:bodyPr>
          <a:lstStyle/>
          <a:p>
            <a:pPr marL="414020" marR="259079" indent="-147955">
              <a:lnSpc>
                <a:spcPct val="113300"/>
              </a:lnSpc>
              <a:spcBef>
                <a:spcPts val="1445"/>
              </a:spcBef>
            </a:pPr>
            <a:r>
              <a:rPr dirty="0" sz="1600">
                <a:latin typeface="Verdana"/>
                <a:cs typeface="Verdana"/>
              </a:rPr>
              <a:t>Desarrollar</a:t>
            </a:r>
            <a:r>
              <a:rPr dirty="0" sz="1600" spc="-70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el</a:t>
            </a:r>
            <a:r>
              <a:rPr dirty="0" sz="1600" spc="15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agente</a:t>
            </a:r>
            <a:r>
              <a:rPr dirty="0" sz="1600" spc="-80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Windows,</a:t>
            </a:r>
            <a:r>
              <a:rPr dirty="0" sz="1600" spc="15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implementar</a:t>
            </a:r>
            <a:r>
              <a:rPr dirty="0" sz="1600" spc="-15">
                <a:latin typeface="Verdana"/>
                <a:cs typeface="Verdana"/>
              </a:rPr>
              <a:t> </a:t>
            </a:r>
            <a:r>
              <a:rPr dirty="0" sz="1600" spc="35">
                <a:latin typeface="Verdana"/>
                <a:cs typeface="Verdana"/>
              </a:rPr>
              <a:t>mecanismos </a:t>
            </a:r>
            <a:r>
              <a:rPr dirty="0" sz="1600" spc="80">
                <a:latin typeface="Verdana"/>
                <a:cs typeface="Verdana"/>
              </a:rPr>
              <a:t>de</a:t>
            </a:r>
            <a:r>
              <a:rPr dirty="0" sz="1600" spc="-155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cifrado,</a:t>
            </a:r>
            <a:r>
              <a:rPr dirty="0" sz="1600" spc="-65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respaldos</a:t>
            </a:r>
            <a:r>
              <a:rPr dirty="0" sz="1600" spc="-150">
                <a:latin typeface="Verdana"/>
                <a:cs typeface="Verdana"/>
              </a:rPr>
              <a:t> </a:t>
            </a:r>
            <a:r>
              <a:rPr dirty="0" sz="1600" spc="-55">
                <a:latin typeface="Verdana"/>
                <a:cs typeface="Verdana"/>
              </a:rPr>
              <a:t>y</a:t>
            </a:r>
            <a:r>
              <a:rPr dirty="0" sz="1600" spc="-110">
                <a:latin typeface="Verdana"/>
                <a:cs typeface="Verdana"/>
              </a:rPr>
              <a:t> </a:t>
            </a:r>
            <a:r>
              <a:rPr dirty="0" sz="1600" spc="65">
                <a:latin typeface="Verdana"/>
                <a:cs typeface="Verdana"/>
              </a:rPr>
              <a:t>acciones</a:t>
            </a:r>
            <a:r>
              <a:rPr dirty="0" sz="1600" spc="-150">
                <a:latin typeface="Verdana"/>
                <a:cs typeface="Verdana"/>
              </a:rPr>
              <a:t> </a:t>
            </a:r>
            <a:r>
              <a:rPr dirty="0" sz="1600" spc="80">
                <a:latin typeface="Verdana"/>
                <a:cs typeface="Verdana"/>
              </a:rPr>
              <a:t>de</a:t>
            </a:r>
            <a:r>
              <a:rPr dirty="0" sz="1600" spc="-110">
                <a:latin typeface="Verdana"/>
                <a:cs typeface="Verdana"/>
              </a:rPr>
              <a:t> </a:t>
            </a:r>
            <a:r>
              <a:rPr dirty="0" sz="1600" spc="50">
                <a:latin typeface="Verdana"/>
                <a:cs typeface="Verdana"/>
              </a:rPr>
              <a:t>protección</a:t>
            </a:r>
            <a:r>
              <a:rPr dirty="0" sz="1600" spc="-60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remota.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3651136" cy="6239111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751475" y="630498"/>
            <a:ext cx="3802379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85">
                <a:latin typeface="Trebuchet MS"/>
                <a:cs typeface="Trebuchet MS"/>
              </a:rPr>
              <a:t>EL</a:t>
            </a:r>
            <a:r>
              <a:rPr dirty="0" spc="-640">
                <a:latin typeface="Trebuchet MS"/>
                <a:cs typeface="Trebuchet MS"/>
              </a:rPr>
              <a:t> </a:t>
            </a:r>
            <a:r>
              <a:rPr dirty="0" spc="745">
                <a:latin typeface="Trebuchet MS"/>
                <a:cs typeface="Trebuchet MS"/>
              </a:rPr>
              <a:t>CASO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99829" y="1974572"/>
            <a:ext cx="8688070" cy="7552055"/>
          </a:xfrm>
          <a:prstGeom prst="rect">
            <a:avLst/>
          </a:prstGeom>
        </p:spPr>
        <p:txBody>
          <a:bodyPr wrap="square" lIns="0" tIns="2051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dirty="0" sz="4500" spc="295" b="1">
                <a:solidFill>
                  <a:srgbClr val="FFFFFF"/>
                </a:solidFill>
                <a:latin typeface="Trebuchet MS"/>
                <a:cs typeface="Trebuchet MS"/>
              </a:rPr>
              <a:t>Problematica</a:t>
            </a:r>
            <a:endParaRPr sz="4500">
              <a:latin typeface="Trebuchet MS"/>
              <a:cs typeface="Trebuchet MS"/>
            </a:endParaRPr>
          </a:p>
          <a:p>
            <a:pPr marL="12700" marR="702945">
              <a:lnSpc>
                <a:spcPct val="114599"/>
              </a:lnSpc>
              <a:spcBef>
                <a:spcPts val="390"/>
              </a:spcBef>
            </a:pP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dirty="0" sz="24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Lucida Sans Unicode"/>
                <a:cs typeface="Lucida Sans Unicode"/>
              </a:rPr>
              <a:t>proyecto</a:t>
            </a:r>
            <a:r>
              <a:rPr dirty="0" sz="24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Lucida Sans Unicode"/>
                <a:cs typeface="Lucida Sans Unicode"/>
              </a:rPr>
              <a:t>aborda</a:t>
            </a:r>
            <a:r>
              <a:rPr dirty="0" sz="24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dirty="0" sz="24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riesgo</a:t>
            </a:r>
            <a:r>
              <a:rPr dirty="0" sz="24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exposición</a:t>
            </a:r>
            <a:r>
              <a:rPr dirty="0" sz="24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dirty="0" sz="2400" spc="45">
                <a:solidFill>
                  <a:srgbClr val="FFFFFF"/>
                </a:solidFill>
                <a:latin typeface="Lucida Sans Unicode"/>
                <a:cs typeface="Lucida Sans Unicode"/>
              </a:rPr>
              <a:t>información</a:t>
            </a:r>
            <a:r>
              <a:rPr dirty="0" sz="24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sensible</a:t>
            </a:r>
            <a:r>
              <a:rPr dirty="0" sz="24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75">
                <a:solidFill>
                  <a:srgbClr val="FFFFFF"/>
                </a:solidFill>
                <a:latin typeface="Lucida Sans Unicode"/>
                <a:cs typeface="Lucida Sans Unicode"/>
              </a:rPr>
              <a:t>almacenada</a:t>
            </a:r>
            <a:r>
              <a:rPr dirty="0" sz="24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Lucida Sans Unicode"/>
                <a:cs typeface="Lucida Sans Unicode"/>
              </a:rPr>
              <a:t>en</a:t>
            </a:r>
            <a:r>
              <a:rPr dirty="0" sz="24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dispositivos </a:t>
            </a:r>
            <a:r>
              <a:rPr dirty="0" sz="2400" spc="45">
                <a:solidFill>
                  <a:srgbClr val="FFFFFF"/>
                </a:solidFill>
                <a:latin typeface="Lucida Sans Unicode"/>
                <a:cs typeface="Lucida Sans Unicode"/>
              </a:rPr>
              <a:t>corporativos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dirty="0" sz="24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Lucida Sans Unicode"/>
                <a:cs typeface="Lucida Sans Unicode"/>
              </a:rPr>
              <a:t>pueden</a:t>
            </a:r>
            <a:r>
              <a:rPr dirty="0" sz="24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ser</a:t>
            </a:r>
            <a:r>
              <a:rPr dirty="0" sz="24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Lucida Sans Unicode"/>
                <a:cs typeface="Lucida Sans Unicode"/>
              </a:rPr>
              <a:t>robados</a:t>
            </a:r>
            <a:r>
              <a:rPr dirty="0" sz="24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dirty="0" sz="24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extraviados.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254"/>
              </a:spcBef>
            </a:pPr>
            <a:r>
              <a:rPr dirty="0" sz="4500" spc="295" b="1">
                <a:solidFill>
                  <a:srgbClr val="FFFFFF"/>
                </a:solidFill>
                <a:latin typeface="Trebuchet MS"/>
                <a:cs typeface="Trebuchet MS"/>
              </a:rPr>
              <a:t>Propuesta</a:t>
            </a:r>
            <a:r>
              <a:rPr dirty="0" sz="4500" spc="-4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295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4500" spc="-4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270" b="1">
                <a:solidFill>
                  <a:srgbClr val="FFFFFF"/>
                </a:solidFill>
                <a:latin typeface="Trebuchet MS"/>
                <a:cs typeface="Trebuchet MS"/>
              </a:rPr>
              <a:t>solución</a:t>
            </a:r>
            <a:endParaRPr sz="4500">
              <a:latin typeface="Trebuchet MS"/>
              <a:cs typeface="Trebuchet MS"/>
            </a:endParaRPr>
          </a:p>
          <a:p>
            <a:pPr marL="12700" marR="5080">
              <a:lnSpc>
                <a:spcPct val="114599"/>
              </a:lnSpc>
              <a:spcBef>
                <a:spcPts val="400"/>
              </a:spcBef>
            </a:pPr>
            <a:r>
              <a:rPr dirty="0" sz="2400" spc="13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Lucida Sans Unicode"/>
                <a:cs typeface="Lucida Sans Unicode"/>
              </a:rPr>
              <a:t>desarrollará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Lucida Sans Unicode"/>
                <a:cs typeface="Lucida Sans Unicode"/>
              </a:rPr>
              <a:t>sistema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4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Lucida Sans Unicode"/>
                <a:cs typeface="Lucida Sans Unicode"/>
              </a:rPr>
              <a:t>protección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Lucida Sans Unicode"/>
                <a:cs typeface="Lucida Sans Unicode"/>
              </a:rPr>
              <a:t>remota </a:t>
            </a:r>
            <a:r>
              <a:rPr dirty="0" sz="2400" spc="50">
                <a:solidFill>
                  <a:srgbClr val="FFFFFF"/>
                </a:solidFill>
                <a:latin typeface="Lucida Sans Unicode"/>
                <a:cs typeface="Lucida Sans Unicode"/>
              </a:rPr>
              <a:t>orientado</a:t>
            </a:r>
            <a:r>
              <a:rPr dirty="0" sz="24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29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4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dispositivos</a:t>
            </a:r>
            <a:r>
              <a:rPr dirty="0" sz="24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Lucida Sans Unicode"/>
                <a:cs typeface="Lucida Sans Unicode"/>
              </a:rPr>
              <a:t>Windows</a:t>
            </a:r>
            <a:r>
              <a:rPr dirty="0" sz="24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450">
                <a:solidFill>
                  <a:srgbClr val="FFFFFF"/>
                </a:solidFill>
                <a:latin typeface="Lucida Sans Unicode"/>
                <a:cs typeface="Lucida Sans Unicode"/>
              </a:rPr>
              <a:t>10/11,</a:t>
            </a:r>
            <a:r>
              <a:rPr dirty="0" sz="24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Lucida Sans Unicode"/>
                <a:cs typeface="Lucida Sans Unicode"/>
              </a:rPr>
              <a:t>compuesto</a:t>
            </a:r>
            <a:r>
              <a:rPr dirty="0" sz="24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Lucida Sans Unicode"/>
                <a:cs typeface="Lucida Sans Unicode"/>
              </a:rPr>
              <a:t>por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Lucida Sans Unicode"/>
                <a:cs typeface="Lucida Sans Unicode"/>
              </a:rPr>
              <a:t>Agente</a:t>
            </a:r>
            <a:r>
              <a:rPr dirty="0" sz="24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Cliente</a:t>
            </a:r>
            <a:r>
              <a:rPr dirty="0" sz="24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Lucida Sans Unicode"/>
                <a:cs typeface="Lucida Sans Unicode"/>
              </a:rPr>
              <a:t>instalado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Lucida Sans Unicode"/>
                <a:cs typeface="Lucida Sans Unicode"/>
              </a:rPr>
              <a:t>en</a:t>
            </a:r>
            <a:r>
              <a:rPr dirty="0" sz="24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dirty="0" sz="24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equipo,</a:t>
            </a:r>
            <a:r>
              <a:rPr dirty="0" sz="24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API</a:t>
            </a:r>
            <a:r>
              <a:rPr dirty="0" sz="24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Lucida Sans Unicode"/>
                <a:cs typeface="Lucida Sans Unicode"/>
              </a:rPr>
              <a:t>Backend </a:t>
            </a:r>
            <a:r>
              <a:rPr dirty="0" sz="2400" spc="130">
                <a:solidFill>
                  <a:srgbClr val="FFFFFF"/>
                </a:solidFill>
                <a:latin typeface="Lucida Sans Unicode"/>
                <a:cs typeface="Lucida Sans Unicode"/>
              </a:rPr>
              <a:t>encargado</a:t>
            </a:r>
            <a:r>
              <a:rPr dirty="0" sz="24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4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Lucida Sans Unicode"/>
                <a:cs typeface="Lucida Sans Unicode"/>
              </a:rPr>
              <a:t>comunicación</a:t>
            </a:r>
            <a:r>
              <a:rPr dirty="0" sz="24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dirty="0" sz="24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Lucida Sans Unicode"/>
                <a:cs typeface="Lucida Sans Unicode"/>
              </a:rPr>
              <a:t>las</a:t>
            </a:r>
            <a:r>
              <a:rPr dirty="0" sz="24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Lucida Sans Unicode"/>
                <a:cs typeface="Lucida Sans Unicode"/>
              </a:rPr>
              <a:t>órdenes</a:t>
            </a:r>
            <a:r>
              <a:rPr dirty="0" sz="24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seguridad,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Lucida Sans Unicode"/>
                <a:cs typeface="Lucida Sans Unicode"/>
              </a:rPr>
              <a:t>una</a:t>
            </a:r>
            <a:r>
              <a:rPr dirty="0" sz="24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40">
                <a:solidFill>
                  <a:srgbClr val="FFFFFF"/>
                </a:solidFill>
                <a:latin typeface="Lucida Sans Unicode"/>
                <a:cs typeface="Lucida Sans Unicode"/>
              </a:rPr>
              <a:t>base</a:t>
            </a:r>
            <a:r>
              <a:rPr dirty="0" sz="24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Lucida Sans Unicode"/>
                <a:cs typeface="Lucida Sans Unicode"/>
              </a:rPr>
              <a:t>datos</a:t>
            </a:r>
            <a:r>
              <a:rPr dirty="0" sz="24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dirty="0" sz="24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Lucida Sans Unicode"/>
                <a:cs typeface="Lucida Sans Unicode"/>
              </a:rPr>
              <a:t>Panel</a:t>
            </a:r>
            <a:r>
              <a:rPr dirty="0" sz="24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80">
                <a:solidFill>
                  <a:srgbClr val="FFFFFF"/>
                </a:solidFill>
                <a:latin typeface="Lucida Sans Unicode"/>
                <a:cs typeface="Lucida Sans Unicode"/>
              </a:rPr>
              <a:t>Web</a:t>
            </a:r>
            <a:r>
              <a:rPr dirty="0" sz="24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45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dirty="0" sz="2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Lucida Sans Unicode"/>
                <a:cs typeface="Lucida Sans Unicode"/>
              </a:rPr>
              <a:t>la administración</a:t>
            </a:r>
            <a:r>
              <a:rPr dirty="0" sz="24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4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los</a:t>
            </a:r>
            <a:r>
              <a:rPr dirty="0" sz="24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dispositivos.</a:t>
            </a:r>
            <a:endParaRPr sz="2400">
              <a:latin typeface="Lucida Sans Unicode"/>
              <a:cs typeface="Lucida Sans Unicode"/>
            </a:endParaRPr>
          </a:p>
          <a:p>
            <a:pPr marL="12700" marR="367665">
              <a:lnSpc>
                <a:spcPct val="114599"/>
              </a:lnSpc>
              <a:spcBef>
                <a:spcPts val="3300"/>
              </a:spcBef>
            </a:pP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45">
                <a:solidFill>
                  <a:srgbClr val="FFFFFF"/>
                </a:solidFill>
                <a:latin typeface="Lucida Sans Unicode"/>
                <a:cs typeface="Lucida Sans Unicode"/>
              </a:rPr>
              <a:t>información</a:t>
            </a:r>
            <a:r>
              <a:rPr dirty="0" sz="24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sensible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dirty="0" sz="24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Lucida Sans Unicode"/>
                <a:cs typeface="Lucida Sans Unicode"/>
              </a:rPr>
              <a:t>protege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Lucida Sans Unicode"/>
                <a:cs typeface="Lucida Sans Unicode"/>
              </a:rPr>
              <a:t>mediante</a:t>
            </a:r>
            <a:r>
              <a:rPr dirty="0" sz="24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Lucida Sans Unicode"/>
                <a:cs typeface="Lucida Sans Unicode"/>
              </a:rPr>
              <a:t>cifrado</a:t>
            </a:r>
            <a:r>
              <a:rPr dirty="0" sz="2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Lucida Sans Unicode"/>
                <a:cs typeface="Lucida Sans Unicode"/>
              </a:rPr>
              <a:t>y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Lucida Sans Unicode"/>
                <a:cs typeface="Lucida Sans Unicode"/>
              </a:rPr>
              <a:t>respaldo</a:t>
            </a:r>
            <a:r>
              <a:rPr dirty="0" sz="24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continuo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Lucida Sans Unicode"/>
                <a:cs typeface="Lucida Sans Unicode"/>
              </a:rPr>
              <a:t>en</a:t>
            </a:r>
            <a:r>
              <a:rPr dirty="0" sz="24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Lucida Sans Unicode"/>
                <a:cs typeface="Lucida Sans Unicode"/>
              </a:rPr>
              <a:t>segundo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Lucida Sans Unicode"/>
                <a:cs typeface="Lucida Sans Unicode"/>
              </a:rPr>
              <a:t>plano</a:t>
            </a:r>
            <a:r>
              <a:rPr dirty="0" sz="24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45">
                <a:solidFill>
                  <a:srgbClr val="FFFFFF"/>
                </a:solidFill>
                <a:latin typeface="Lucida Sans Unicode"/>
                <a:cs typeface="Lucida Sans Unicode"/>
              </a:rPr>
              <a:t>hacia</a:t>
            </a:r>
            <a:r>
              <a:rPr dirty="0" sz="24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Lucida Sans Unicode"/>
                <a:cs typeface="Lucida Sans Unicode"/>
              </a:rPr>
              <a:t>un </a:t>
            </a:r>
            <a:r>
              <a:rPr dirty="0" sz="2400" spc="120">
                <a:solidFill>
                  <a:srgbClr val="FFFFFF"/>
                </a:solidFill>
                <a:latin typeface="Lucida Sans Unicode"/>
                <a:cs typeface="Lucida Sans Unicode"/>
              </a:rPr>
              <a:t>almacenamiento</a:t>
            </a:r>
            <a:r>
              <a:rPr dirty="0" sz="24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seguro.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10813674" y="0"/>
            <a:ext cx="7474584" cy="10287000"/>
            <a:chOff x="10813674" y="0"/>
            <a:chExt cx="7474584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79392" y="5301767"/>
              <a:ext cx="4408607" cy="49852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13674" y="0"/>
              <a:ext cx="7474325" cy="10286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4131532" cy="5738268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579564" y="168691"/>
            <a:ext cx="512889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30">
                <a:latin typeface="Trebuchet MS"/>
                <a:cs typeface="Trebuchet MS"/>
              </a:rPr>
              <a:t>OBJETIVOS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01436" y="1677672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01436" y="2382522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01436" y="3087372"/>
            <a:ext cx="85725" cy="857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13115" y="3351881"/>
            <a:ext cx="3781425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229" b="1">
                <a:solidFill>
                  <a:srgbClr val="FFFFFF"/>
                </a:solidFill>
                <a:latin typeface="Trebuchet MS"/>
                <a:cs typeface="Trebuchet MS"/>
              </a:rPr>
              <a:t>Especifico</a:t>
            </a:r>
            <a:r>
              <a:rPr dirty="0" sz="5200" spc="-4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5200" spc="-490" b="1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endParaRPr sz="52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01436" y="3792222"/>
            <a:ext cx="85725" cy="857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01436" y="4497072"/>
            <a:ext cx="85725" cy="857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01436" y="5201922"/>
            <a:ext cx="85725" cy="857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01436" y="5906772"/>
            <a:ext cx="85725" cy="857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494131" y="1496684"/>
            <a:ext cx="6898640" cy="4959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6830" marR="29209">
              <a:lnSpc>
                <a:spcPct val="115599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Proteger</a:t>
            </a:r>
            <a:r>
              <a:rPr dirty="0" sz="2000" spc="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información</a:t>
            </a:r>
            <a:r>
              <a:rPr dirty="0" sz="2000" spc="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sensible</a:t>
            </a:r>
            <a:r>
              <a:rPr dirty="0" sz="2000" spc="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80">
                <a:solidFill>
                  <a:srgbClr val="FFFFFF"/>
                </a:solidFill>
                <a:latin typeface="Lucida Sans Unicode"/>
                <a:cs typeface="Lucida Sans Unicode"/>
              </a:rPr>
              <a:t>mediante</a:t>
            </a:r>
            <a:r>
              <a:rPr dirty="0" sz="2000" spc="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75">
                <a:solidFill>
                  <a:srgbClr val="FFFFFF"/>
                </a:solidFill>
                <a:latin typeface="Lucida Sans Unicode"/>
                <a:cs typeface="Lucida Sans Unicode"/>
              </a:rPr>
              <a:t>mecanismos </a:t>
            </a:r>
            <a:r>
              <a:rPr dirty="0" sz="2000" spc="10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0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cifrado.</a:t>
            </a:r>
            <a:endParaRPr sz="2000">
              <a:latin typeface="Lucida Sans Unicode"/>
              <a:cs typeface="Lucida Sans Unicode"/>
            </a:endParaRPr>
          </a:p>
          <a:p>
            <a:pPr algn="ctr" marL="282575" marR="274955">
              <a:lnSpc>
                <a:spcPct val="115599"/>
              </a:lnSpc>
            </a:pP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Realizar</a:t>
            </a:r>
            <a:r>
              <a:rPr dirty="0" sz="20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45">
                <a:solidFill>
                  <a:srgbClr val="FFFFFF"/>
                </a:solidFill>
                <a:latin typeface="Lucida Sans Unicode"/>
                <a:cs typeface="Lucida Sans Unicode"/>
              </a:rPr>
              <a:t>respaldos</a:t>
            </a:r>
            <a:r>
              <a:rPr dirty="0" sz="20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dirty="0" sz="20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sincronización</a:t>
            </a:r>
            <a:r>
              <a:rPr dirty="0" sz="20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Lucida Sans Unicode"/>
                <a:cs typeface="Lucida Sans Unicode"/>
              </a:rPr>
              <a:t>continua</a:t>
            </a:r>
            <a:r>
              <a:rPr dirty="0" sz="20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0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0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Lucida Sans Unicode"/>
                <a:cs typeface="Lucida Sans Unicode"/>
              </a:rPr>
              <a:t>la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información</a:t>
            </a:r>
            <a:r>
              <a:rPr dirty="0" sz="2000" spc="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14">
                <a:solidFill>
                  <a:srgbClr val="FFFFFF"/>
                </a:solidFill>
                <a:latin typeface="Lucida Sans Unicode"/>
                <a:cs typeface="Lucida Sans Unicode"/>
              </a:rPr>
              <a:t>hacia</a:t>
            </a:r>
            <a:r>
              <a:rPr dirty="0" sz="2000" spc="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dirty="0" sz="2000" spc="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95">
                <a:solidFill>
                  <a:srgbClr val="FFFFFF"/>
                </a:solidFill>
                <a:latin typeface="Lucida Sans Unicode"/>
                <a:cs typeface="Lucida Sans Unicode"/>
              </a:rPr>
              <a:t>almacenamiento</a:t>
            </a:r>
            <a:r>
              <a:rPr dirty="0" sz="2000" spc="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seguro.</a:t>
            </a:r>
            <a:endParaRPr sz="2000">
              <a:latin typeface="Lucida Sans Unicode"/>
              <a:cs typeface="Lucida Sans Unicode"/>
            </a:endParaRPr>
          </a:p>
          <a:p>
            <a:pPr algn="ctr" marL="575945" marR="568325">
              <a:lnSpc>
                <a:spcPct val="115599"/>
              </a:lnSpc>
            </a:pP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Permitir</a:t>
            </a:r>
            <a:r>
              <a:rPr dirty="0" sz="20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75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45">
                <a:solidFill>
                  <a:srgbClr val="FFFFFF"/>
                </a:solidFill>
                <a:latin typeface="Lucida Sans Unicode"/>
                <a:cs typeface="Lucida Sans Unicode"/>
              </a:rPr>
              <a:t>administración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0">
                <a:solidFill>
                  <a:srgbClr val="FFFFFF"/>
                </a:solidFill>
                <a:latin typeface="Lucida Sans Unicode"/>
                <a:cs typeface="Lucida Sans Unicode"/>
              </a:rPr>
              <a:t>centralizada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0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0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Lucida Sans Unicode"/>
                <a:cs typeface="Lucida Sans Unicode"/>
              </a:rPr>
              <a:t>los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dispositivos</a:t>
            </a:r>
            <a:r>
              <a:rPr dirty="0" sz="20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corporativos.</a:t>
            </a:r>
            <a:endParaRPr sz="2000">
              <a:latin typeface="Lucida Sans Unicode"/>
              <a:cs typeface="Lucida Sans Unicode"/>
            </a:endParaRPr>
          </a:p>
          <a:p>
            <a:pPr algn="ctr" marL="12700" marR="5080">
              <a:lnSpc>
                <a:spcPct val="115599"/>
              </a:lnSpc>
            </a:pPr>
            <a:r>
              <a:rPr dirty="0" sz="2000" spc="75">
                <a:solidFill>
                  <a:srgbClr val="FFFFFF"/>
                </a:solidFill>
                <a:latin typeface="Lucida Sans Unicode"/>
                <a:cs typeface="Lucida Sans Unicode"/>
              </a:rPr>
              <a:t>Revocar</a:t>
            </a:r>
            <a:r>
              <a:rPr dirty="0" sz="20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dirty="0" sz="2000" spc="-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destruir</a:t>
            </a:r>
            <a:r>
              <a:rPr dirty="0" sz="2000" spc="-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Lucida Sans Unicode"/>
                <a:cs typeface="Lucida Sans Unicode"/>
              </a:rPr>
              <a:t>las</a:t>
            </a:r>
            <a:r>
              <a:rPr dirty="0" sz="2000" spc="-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85">
                <a:solidFill>
                  <a:srgbClr val="FFFFFF"/>
                </a:solidFill>
                <a:latin typeface="Lucida Sans Unicode"/>
                <a:cs typeface="Lucida Sans Unicode"/>
              </a:rPr>
              <a:t>claves</a:t>
            </a:r>
            <a:r>
              <a:rPr dirty="0" sz="2000" spc="-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0">
                <a:solidFill>
                  <a:srgbClr val="FFFFFF"/>
                </a:solidFill>
                <a:latin typeface="Lucida Sans Unicode"/>
                <a:cs typeface="Lucida Sans Unicode"/>
              </a:rPr>
              <a:t>criptográficas</a:t>
            </a:r>
            <a:r>
              <a:rPr dirty="0" sz="2000" spc="-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Lucida Sans Unicode"/>
                <a:cs typeface="Lucida Sans Unicode"/>
              </a:rPr>
              <a:t>asociadas </a:t>
            </a:r>
            <a:r>
              <a:rPr dirty="0" sz="2000" spc="24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0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los</a:t>
            </a:r>
            <a:r>
              <a:rPr dirty="0" sz="20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Lucida Sans Unicode"/>
                <a:cs typeface="Lucida Sans Unicode"/>
              </a:rPr>
              <a:t>datos</a:t>
            </a:r>
            <a:r>
              <a:rPr dirty="0" sz="20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protegidos.</a:t>
            </a:r>
            <a:endParaRPr sz="2000">
              <a:latin typeface="Lucida Sans Unicode"/>
              <a:cs typeface="Lucida Sans Unicode"/>
            </a:endParaRPr>
          </a:p>
          <a:p>
            <a:pPr algn="ctr" marL="428625" marR="421005">
              <a:lnSpc>
                <a:spcPct val="115599"/>
              </a:lnSpc>
            </a:pP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Registrar</a:t>
            </a:r>
            <a:r>
              <a:rPr dirty="0" sz="200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Lucida Sans Unicode"/>
                <a:cs typeface="Lucida Sans Unicode"/>
              </a:rPr>
              <a:t>las</a:t>
            </a:r>
            <a:r>
              <a:rPr dirty="0" sz="20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85">
                <a:solidFill>
                  <a:srgbClr val="FFFFFF"/>
                </a:solidFill>
                <a:latin typeface="Lucida Sans Unicode"/>
                <a:cs typeface="Lucida Sans Unicode"/>
              </a:rPr>
              <a:t>acciones</a:t>
            </a:r>
            <a:r>
              <a:rPr dirty="0" sz="20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realizadas</a:t>
            </a:r>
            <a:r>
              <a:rPr dirty="0" sz="200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80">
                <a:solidFill>
                  <a:srgbClr val="FFFFFF"/>
                </a:solidFill>
                <a:latin typeface="Lucida Sans Unicode"/>
                <a:cs typeface="Lucida Sans Unicode"/>
              </a:rPr>
              <a:t>mediante</a:t>
            </a:r>
            <a:r>
              <a:rPr dirty="0" sz="20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75">
                <a:solidFill>
                  <a:srgbClr val="FFFFFF"/>
                </a:solidFill>
                <a:latin typeface="Lucida Sans Unicode"/>
                <a:cs typeface="Lucida Sans Unicode"/>
              </a:rPr>
              <a:t>una </a:t>
            </a:r>
            <a:r>
              <a:rPr dirty="0" sz="2000" spc="70">
                <a:solidFill>
                  <a:srgbClr val="FFFFFF"/>
                </a:solidFill>
                <a:latin typeface="Lucida Sans Unicode"/>
                <a:cs typeface="Lucida Sans Unicode"/>
              </a:rPr>
              <a:t>bitácora</a:t>
            </a:r>
            <a:r>
              <a:rPr dirty="0" sz="20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0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0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auditoría.</a:t>
            </a:r>
            <a:endParaRPr sz="2000">
              <a:latin typeface="Lucida Sans Unicode"/>
              <a:cs typeface="Lucida Sans Unicode"/>
            </a:endParaRPr>
          </a:p>
          <a:p>
            <a:pPr algn="ctr" marL="22225" marR="14604">
              <a:lnSpc>
                <a:spcPct val="115599"/>
              </a:lnSpc>
            </a:pP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Reducir</a:t>
            </a:r>
            <a:r>
              <a:rPr dirty="0" sz="20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el riesgo </a:t>
            </a:r>
            <a:r>
              <a:rPr dirty="0" sz="2000" spc="10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 exposición </a:t>
            </a:r>
            <a:r>
              <a:rPr dirty="0" sz="2000" spc="10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 información </a:t>
            </a:r>
            <a:r>
              <a:rPr dirty="0" sz="2000" spc="90">
                <a:solidFill>
                  <a:srgbClr val="FFFFFF"/>
                </a:solidFill>
                <a:latin typeface="Lucida Sans Unicode"/>
                <a:cs typeface="Lucida Sans Unicode"/>
              </a:rPr>
              <a:t>ante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Lucida Sans Unicode"/>
                <a:cs typeface="Lucida Sans Unicode"/>
              </a:rPr>
              <a:t>el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robo</a:t>
            </a:r>
            <a:r>
              <a:rPr dirty="0" sz="20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dirty="0" sz="20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extravío</a:t>
            </a:r>
            <a:r>
              <a:rPr dirty="0" sz="20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0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0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dispositivos.</a:t>
            </a:r>
            <a:endParaRPr sz="2000">
              <a:latin typeface="Lucida Sans Unicode"/>
              <a:cs typeface="Lucida Sans Unicode"/>
            </a:endParaRPr>
          </a:p>
          <a:p>
            <a:pPr algn="ctr" marL="40005" marR="32384">
              <a:lnSpc>
                <a:spcPct val="115599"/>
              </a:lnSpc>
              <a:spcBef>
                <a:spcPts val="5"/>
              </a:spcBef>
            </a:pP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Facilitar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75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dirty="0" sz="20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Lucida Sans Unicode"/>
                <a:cs typeface="Lucida Sans Unicode"/>
              </a:rPr>
              <a:t>recuperación</a:t>
            </a:r>
            <a:r>
              <a:rPr dirty="0" sz="20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0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0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información</a:t>
            </a:r>
            <a:r>
              <a:rPr dirty="0" sz="20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sin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Lucida Sans Unicode"/>
                <a:cs typeface="Lucida Sans Unicode"/>
              </a:rPr>
              <a:t>depender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del</a:t>
            </a:r>
            <a:r>
              <a:rPr dirty="0" sz="20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dispositivo</a:t>
            </a:r>
            <a:r>
              <a:rPr dirty="0" sz="20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Lucida Sans Unicode"/>
                <a:cs typeface="Lucida Sans Unicode"/>
              </a:rPr>
              <a:t>después</a:t>
            </a:r>
            <a:r>
              <a:rPr dirty="0" sz="20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del</a:t>
            </a:r>
            <a:r>
              <a:rPr dirty="0" sz="20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incidente.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5880610"/>
            <a:ext cx="4942613" cy="440638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487923" y="7595050"/>
            <a:ext cx="6725920" cy="1882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100" spc="-85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dirty="0" sz="21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objetivo</a:t>
            </a:r>
            <a:r>
              <a:rPr dirty="0" sz="21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principal</a:t>
            </a:r>
            <a:r>
              <a:rPr dirty="0" sz="21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60">
                <a:solidFill>
                  <a:srgbClr val="FFFFFF"/>
                </a:solidFill>
                <a:latin typeface="Lucida Sans Unicode"/>
                <a:cs typeface="Lucida Sans Unicode"/>
              </a:rPr>
              <a:t>es</a:t>
            </a:r>
            <a:r>
              <a:rPr dirty="0" sz="21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proteger</a:t>
            </a:r>
            <a:r>
              <a:rPr dirty="0" sz="21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dirty="0" sz="21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información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sensible</a:t>
            </a:r>
            <a:r>
              <a:rPr dirty="0" sz="21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55">
                <a:solidFill>
                  <a:srgbClr val="FFFFFF"/>
                </a:solidFill>
                <a:latin typeface="Lucida Sans Unicode"/>
                <a:cs typeface="Lucida Sans Unicode"/>
              </a:rPr>
              <a:t>almacenada</a:t>
            </a:r>
            <a:r>
              <a:rPr dirty="0" sz="21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en</a:t>
            </a:r>
            <a:r>
              <a:rPr dirty="0" sz="21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dispositivos</a:t>
            </a:r>
            <a:r>
              <a:rPr dirty="0" sz="21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corporativos </a:t>
            </a:r>
            <a:r>
              <a:rPr dirty="0" sz="2100" spc="85">
                <a:solidFill>
                  <a:srgbClr val="FFFFFF"/>
                </a:solidFill>
                <a:latin typeface="Lucida Sans Unicode"/>
                <a:cs typeface="Lucida Sans Unicode"/>
              </a:rPr>
              <a:t>mediante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dirty="0" sz="21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05">
                <a:solidFill>
                  <a:srgbClr val="FFFFFF"/>
                </a:solidFill>
                <a:latin typeface="Lucida Sans Unicode"/>
                <a:cs typeface="Lucida Sans Unicode"/>
              </a:rPr>
              <a:t>mecanismo</a:t>
            </a:r>
            <a:r>
              <a:rPr dirty="0" sz="21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preventivo</a:t>
            </a:r>
            <a:r>
              <a:rPr dirty="0" sz="21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05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1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respaldo, </a:t>
            </a:r>
            <a:r>
              <a:rPr dirty="0" sz="2100" spc="45">
                <a:solidFill>
                  <a:srgbClr val="FFFFFF"/>
                </a:solidFill>
                <a:latin typeface="Lucida Sans Unicode"/>
                <a:cs typeface="Lucida Sans Unicode"/>
              </a:rPr>
              <a:t>cifrado</a:t>
            </a:r>
            <a:r>
              <a:rPr dirty="0" sz="21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dirty="0" sz="21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30">
                <a:solidFill>
                  <a:srgbClr val="FFFFFF"/>
                </a:solidFill>
                <a:latin typeface="Lucida Sans Unicode"/>
                <a:cs typeface="Lucida Sans Unicode"/>
              </a:rPr>
              <a:t>capacidades</a:t>
            </a:r>
            <a:r>
              <a:rPr dirty="0" sz="21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05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1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55">
                <a:solidFill>
                  <a:srgbClr val="FFFFFF"/>
                </a:solidFill>
                <a:latin typeface="Lucida Sans Unicode"/>
                <a:cs typeface="Lucida Sans Unicode"/>
              </a:rPr>
              <a:t>respuesta</a:t>
            </a:r>
            <a:r>
              <a:rPr dirty="0" sz="21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5">
                <a:solidFill>
                  <a:srgbClr val="FFFFFF"/>
                </a:solidFill>
                <a:latin typeface="Lucida Sans Unicode"/>
                <a:cs typeface="Lucida Sans Unicode"/>
              </a:rPr>
              <a:t>remota</a:t>
            </a:r>
            <a:r>
              <a:rPr dirty="0" sz="21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ante </a:t>
            </a:r>
            <a:r>
              <a:rPr dirty="0" sz="2100" spc="45">
                <a:solidFill>
                  <a:srgbClr val="FFFFFF"/>
                </a:solidFill>
                <a:latin typeface="Lucida Sans Unicode"/>
                <a:cs typeface="Lucida Sans Unicode"/>
              </a:rPr>
              <a:t>situaciones</a:t>
            </a:r>
            <a:r>
              <a:rPr dirty="0" sz="21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05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1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65">
                <a:solidFill>
                  <a:srgbClr val="FFFFFF"/>
                </a:solidFill>
                <a:latin typeface="Lucida Sans Unicode"/>
                <a:cs typeface="Lucida Sans Unicode"/>
              </a:rPr>
              <a:t>pérdida</a:t>
            </a:r>
            <a:r>
              <a:rPr dirty="0" sz="21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5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dirty="0" sz="21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robo.</a:t>
            </a:r>
            <a:endParaRPr sz="2100">
              <a:latin typeface="Lucida Sans Unicode"/>
              <a:cs typeface="Lucida Sans Unicode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13319881" y="0"/>
            <a:ext cx="4968240" cy="10287000"/>
            <a:chOff x="13319881" y="0"/>
            <a:chExt cx="496824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19881" y="0"/>
              <a:ext cx="4968117" cy="916949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76273" y="6840220"/>
              <a:ext cx="4211726" cy="344677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827056" y="7972180"/>
            <a:ext cx="3041015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440" b="1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dirty="0" sz="5200" spc="-4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5200" spc="270" b="1">
                <a:solidFill>
                  <a:srgbClr val="FFFFFF"/>
                </a:solidFill>
                <a:latin typeface="Trebuchet MS"/>
                <a:cs typeface="Trebuchet MS"/>
              </a:rPr>
              <a:t>General</a:t>
            </a:r>
            <a:endParaRPr sz="5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143500"/>
              <a:ext cx="18287999" cy="51434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3651136" cy="6927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73255" y="3276396"/>
              <a:ext cx="4214742" cy="7010602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006379" y="275898"/>
            <a:ext cx="827532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50">
                <a:latin typeface="Trebuchet MS"/>
                <a:cs typeface="Trebuchet MS"/>
              </a:rPr>
              <a:t>PLAN</a:t>
            </a:r>
            <a:r>
              <a:rPr dirty="0" spc="-645">
                <a:latin typeface="Trebuchet MS"/>
                <a:cs typeface="Trebuchet MS"/>
              </a:rPr>
              <a:t> </a:t>
            </a:r>
            <a:r>
              <a:rPr dirty="0" spc="195">
                <a:latin typeface="Trebuchet MS"/>
                <a:cs typeface="Trebuchet MS"/>
              </a:rPr>
              <a:t>DE</a:t>
            </a:r>
            <a:r>
              <a:rPr dirty="0" spc="-640">
                <a:latin typeface="Trebuchet MS"/>
                <a:cs typeface="Trebuchet MS"/>
              </a:rPr>
              <a:t> </a:t>
            </a:r>
            <a:r>
              <a:rPr dirty="0" spc="395">
                <a:latin typeface="Trebuchet MS"/>
                <a:cs typeface="Trebuchet MS"/>
              </a:rPr>
              <a:t>TRABAJO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85327" y="1935809"/>
          <a:ext cx="16645890" cy="73126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5985"/>
                <a:gridCol w="1918335"/>
                <a:gridCol w="3655060"/>
                <a:gridCol w="7552055"/>
              </a:tblGrid>
              <a:tr h="7950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2100" spc="-20">
                          <a:latin typeface="Arial Black"/>
                          <a:cs typeface="Arial Black"/>
                        </a:rPr>
                        <a:t>Hito</a:t>
                      </a:r>
                      <a:endParaRPr sz="2100">
                        <a:latin typeface="Arial Black"/>
                        <a:cs typeface="Arial Black"/>
                      </a:endParaRPr>
                    </a:p>
                  </a:txBody>
                  <a:tcPr marL="0" marR="0" marB="0" marT="21907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8198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2100" spc="-20">
                          <a:latin typeface="Arial Black"/>
                          <a:cs typeface="Arial Black"/>
                        </a:rPr>
                        <a:t>Semana</a:t>
                      </a:r>
                      <a:endParaRPr sz="2100">
                        <a:latin typeface="Arial Black"/>
                        <a:cs typeface="Arial Black"/>
                      </a:endParaRPr>
                    </a:p>
                  </a:txBody>
                  <a:tcPr marL="0" marR="0" marB="0" marT="21907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8198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2100" spc="-20">
                          <a:latin typeface="Arial Black"/>
                          <a:cs typeface="Arial Black"/>
                        </a:rPr>
                        <a:t>Fase</a:t>
                      </a:r>
                      <a:endParaRPr sz="2100">
                        <a:latin typeface="Arial Black"/>
                        <a:cs typeface="Arial Black"/>
                      </a:endParaRPr>
                    </a:p>
                  </a:txBody>
                  <a:tcPr marL="0" marR="0" marB="0" marT="21907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8198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2100" spc="-45">
                          <a:latin typeface="Arial Black"/>
                          <a:cs typeface="Arial Black"/>
                        </a:rPr>
                        <a:t>Descripción</a:t>
                      </a:r>
                      <a:endParaRPr sz="2100">
                        <a:latin typeface="Arial Black"/>
                        <a:cs typeface="Arial Black"/>
                      </a:endParaRPr>
                    </a:p>
                  </a:txBody>
                  <a:tcPr marL="0" marR="0" marB="0" marT="21907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8198BA"/>
                    </a:solidFill>
                  </a:tcPr>
                </a:tc>
              </a:tr>
              <a:tr h="818515">
                <a:tc>
                  <a:txBody>
                    <a:bodyPr/>
                    <a:lstStyle/>
                    <a:p>
                      <a:pPr marL="1179830" marR="80010" indent="-1092200">
                        <a:lnSpc>
                          <a:spcPct val="116100"/>
                        </a:lnSpc>
                        <a:spcBef>
                          <a:spcPts val="270"/>
                        </a:spcBef>
                      </a:pPr>
                      <a:r>
                        <a:rPr dirty="0" sz="2100" spc="75">
                          <a:latin typeface="Arial MT"/>
                          <a:cs typeface="Arial MT"/>
                        </a:rPr>
                        <a:t>Cierre</a:t>
                      </a:r>
                      <a:r>
                        <a:rPr dirty="0" sz="21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100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1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110">
                          <a:latin typeface="Arial MT"/>
                          <a:cs typeface="Arial MT"/>
                        </a:rPr>
                        <a:t>documentación </a:t>
                      </a:r>
                      <a:r>
                        <a:rPr dirty="0" sz="2100" spc="135">
                          <a:latin typeface="Arial MT"/>
                          <a:cs typeface="Arial MT"/>
                        </a:rPr>
                        <a:t>y</a:t>
                      </a:r>
                      <a:r>
                        <a:rPr dirty="0" sz="21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80">
                          <a:latin typeface="Arial MT"/>
                          <a:cs typeface="Arial MT"/>
                        </a:rPr>
                        <a:t>diseño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97A3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100" spc="50">
                          <a:latin typeface="Arial MT"/>
                          <a:cs typeface="Arial MT"/>
                        </a:rPr>
                        <a:t>4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100" spc="-10">
                          <a:latin typeface="Arial MT"/>
                          <a:cs typeface="Arial MT"/>
                        </a:rPr>
                        <a:t>Fase</a:t>
                      </a:r>
                      <a:r>
                        <a:rPr dirty="0" sz="2100" spc="-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-20">
                          <a:latin typeface="Arial MT"/>
                          <a:cs typeface="Arial MT"/>
                        </a:rPr>
                        <a:t>1:</a:t>
                      </a:r>
                      <a:r>
                        <a:rPr dirty="0" sz="2100" spc="-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50">
                          <a:latin typeface="Arial MT"/>
                          <a:cs typeface="Arial MT"/>
                        </a:rPr>
                        <a:t>Análisis</a:t>
                      </a:r>
                      <a:r>
                        <a:rPr dirty="0" sz="2100" spc="-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135">
                          <a:latin typeface="Arial MT"/>
                          <a:cs typeface="Arial MT"/>
                        </a:rPr>
                        <a:t>y</a:t>
                      </a:r>
                      <a:r>
                        <a:rPr dirty="0" sz="2100" spc="-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Diseño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2100" spc="80">
                          <a:latin typeface="Arial MT"/>
                          <a:cs typeface="Arial MT"/>
                        </a:rPr>
                        <a:t>Problema,</a:t>
                      </a:r>
                      <a:r>
                        <a:rPr dirty="0" sz="21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alcance,</a:t>
                      </a:r>
                      <a:r>
                        <a:rPr dirty="0" sz="2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55">
                          <a:latin typeface="Arial MT"/>
                          <a:cs typeface="Arial MT"/>
                        </a:rPr>
                        <a:t>User</a:t>
                      </a:r>
                      <a:r>
                        <a:rPr dirty="0" sz="2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114">
                          <a:latin typeface="Arial MT"/>
                          <a:cs typeface="Arial MT"/>
                        </a:rPr>
                        <a:t>Story</a:t>
                      </a:r>
                      <a:r>
                        <a:rPr dirty="0" sz="21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85">
                          <a:latin typeface="Arial MT"/>
                          <a:cs typeface="Arial MT"/>
                        </a:rPr>
                        <a:t>Mapping,</a:t>
                      </a:r>
                      <a:r>
                        <a:rPr dirty="0" sz="2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125">
                          <a:latin typeface="Arial MT"/>
                          <a:cs typeface="Arial MT"/>
                        </a:rPr>
                        <a:t>modelo</a:t>
                      </a:r>
                      <a:endParaRPr sz="210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2100" spc="85">
                          <a:latin typeface="Arial MT"/>
                          <a:cs typeface="Arial MT"/>
                        </a:rPr>
                        <a:t>relacional,</a:t>
                      </a:r>
                      <a:r>
                        <a:rPr dirty="0" sz="21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75">
                          <a:latin typeface="Arial MT"/>
                          <a:cs typeface="Arial MT"/>
                        </a:rPr>
                        <a:t>diagrama</a:t>
                      </a:r>
                      <a:r>
                        <a:rPr dirty="0" sz="21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100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1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80">
                          <a:latin typeface="Arial MT"/>
                          <a:cs typeface="Arial MT"/>
                        </a:rPr>
                        <a:t>despliegue</a:t>
                      </a:r>
                      <a:r>
                        <a:rPr dirty="0" sz="21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135">
                          <a:latin typeface="Arial MT"/>
                          <a:cs typeface="Arial MT"/>
                        </a:rPr>
                        <a:t>y</a:t>
                      </a:r>
                      <a:r>
                        <a:rPr dirty="0" sz="21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75">
                          <a:latin typeface="Arial MT"/>
                          <a:cs typeface="Arial MT"/>
                        </a:rPr>
                        <a:t>demás</a:t>
                      </a:r>
                      <a:r>
                        <a:rPr dirty="0" sz="21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114">
                          <a:latin typeface="Arial MT"/>
                          <a:cs typeface="Arial MT"/>
                        </a:rPr>
                        <a:t>documentos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8572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</a:tr>
              <a:tr h="818515">
                <a:tc>
                  <a:txBody>
                    <a:bodyPr/>
                    <a:lstStyle/>
                    <a:p>
                      <a:pPr marL="1458595" marR="250190" indent="-1201420">
                        <a:lnSpc>
                          <a:spcPct val="116100"/>
                        </a:lnSpc>
                        <a:spcBef>
                          <a:spcPts val="270"/>
                        </a:spcBef>
                      </a:pPr>
                      <a:r>
                        <a:rPr dirty="0" sz="2100" spc="75">
                          <a:latin typeface="Arial MT"/>
                          <a:cs typeface="Arial MT"/>
                        </a:rPr>
                        <a:t>Ambiente</a:t>
                      </a:r>
                      <a:r>
                        <a:rPr dirty="0" sz="2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0">
                          <a:latin typeface="Arial MT"/>
                          <a:cs typeface="Arial MT"/>
                        </a:rPr>
                        <a:t>desarrollo </a:t>
                      </a:r>
                      <a:r>
                        <a:rPr dirty="0" sz="2100" spc="55">
                          <a:latin typeface="Arial MT"/>
                          <a:cs typeface="Arial MT"/>
                        </a:rPr>
                        <a:t>listo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97A3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100" spc="65">
                          <a:latin typeface="Arial MT"/>
                          <a:cs typeface="Arial MT"/>
                        </a:rPr>
                        <a:t>5</a:t>
                      </a:r>
                      <a:r>
                        <a:rPr dirty="0" sz="21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9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21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135">
                          <a:latin typeface="Arial MT"/>
                          <a:cs typeface="Arial MT"/>
                        </a:rPr>
                        <a:t>6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  <a:tc>
                  <a:txBody>
                    <a:bodyPr/>
                    <a:lstStyle/>
                    <a:p>
                      <a:pPr marL="1124585" marR="600710" indent="-517525">
                        <a:lnSpc>
                          <a:spcPct val="116100"/>
                        </a:lnSpc>
                        <a:spcBef>
                          <a:spcPts val="270"/>
                        </a:spcBef>
                      </a:pPr>
                      <a:r>
                        <a:rPr dirty="0" sz="2100" spc="-50">
                          <a:latin typeface="Arial MT"/>
                          <a:cs typeface="Arial MT"/>
                        </a:rPr>
                        <a:t>Fase</a:t>
                      </a:r>
                      <a:r>
                        <a:rPr dirty="0" sz="2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2:</a:t>
                      </a:r>
                      <a:r>
                        <a:rPr dirty="0" sz="2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55">
                          <a:latin typeface="Arial MT"/>
                          <a:cs typeface="Arial MT"/>
                        </a:rPr>
                        <a:t>Desarrollo</a:t>
                      </a:r>
                      <a:r>
                        <a:rPr dirty="0" sz="2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-50">
                          <a:latin typeface="Arial MT"/>
                          <a:cs typeface="Arial MT"/>
                        </a:rPr>
                        <a:t>e </a:t>
                      </a:r>
                      <a:r>
                        <a:rPr dirty="0" sz="2100" spc="45">
                          <a:latin typeface="Arial MT"/>
                          <a:cs typeface="Arial MT"/>
                        </a:rPr>
                        <a:t>Integración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  <a:tc>
                  <a:txBody>
                    <a:bodyPr/>
                    <a:lstStyle/>
                    <a:p>
                      <a:pPr marL="768985" marR="114935" indent="-647065">
                        <a:lnSpc>
                          <a:spcPct val="116100"/>
                        </a:lnSpc>
                        <a:spcBef>
                          <a:spcPts val="270"/>
                        </a:spcBef>
                      </a:pPr>
                      <a:r>
                        <a:rPr dirty="0" sz="2100" spc="10">
                          <a:latin typeface="Arial MT"/>
                          <a:cs typeface="Arial MT"/>
                        </a:rPr>
                        <a:t>Repositorio,</a:t>
                      </a:r>
                      <a:r>
                        <a:rPr dirty="0" sz="21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85">
                          <a:latin typeface="Arial MT"/>
                          <a:cs typeface="Arial MT"/>
                        </a:rPr>
                        <a:t>ambiente</a:t>
                      </a:r>
                      <a:r>
                        <a:rPr dirty="0" sz="21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1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70">
                          <a:latin typeface="Arial MT"/>
                          <a:cs typeface="Arial MT"/>
                        </a:rPr>
                        <a:t>desarrollo</a:t>
                      </a:r>
                      <a:r>
                        <a:rPr dirty="0" sz="21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10">
                          <a:latin typeface="Arial MT"/>
                          <a:cs typeface="Arial MT"/>
                        </a:rPr>
                        <a:t>y</a:t>
                      </a:r>
                      <a:r>
                        <a:rPr dirty="0" sz="21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0">
                          <a:latin typeface="Arial MT"/>
                          <a:cs typeface="Arial MT"/>
                        </a:rPr>
                        <a:t>esquema</a:t>
                      </a:r>
                      <a:r>
                        <a:rPr dirty="0" sz="21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1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10">
                          <a:latin typeface="Arial MT"/>
                          <a:cs typeface="Arial MT"/>
                        </a:rPr>
                        <a:t>base</a:t>
                      </a:r>
                      <a:r>
                        <a:rPr dirty="0" sz="21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40">
                          <a:latin typeface="Arial MT"/>
                          <a:cs typeface="Arial MT"/>
                        </a:rPr>
                        <a:t>de </a:t>
                      </a:r>
                      <a:r>
                        <a:rPr dirty="0" sz="2100" spc="60">
                          <a:latin typeface="Arial MT"/>
                          <a:cs typeface="Arial MT"/>
                        </a:rPr>
                        <a:t>datos</a:t>
                      </a:r>
                      <a:r>
                        <a:rPr dirty="0" sz="2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55">
                          <a:latin typeface="Arial MT"/>
                          <a:cs typeface="Arial MT"/>
                        </a:rPr>
                        <a:t>configurados;</a:t>
                      </a:r>
                      <a:r>
                        <a:rPr dirty="0" sz="21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0">
                          <a:latin typeface="Arial MT"/>
                          <a:cs typeface="Arial MT"/>
                        </a:rPr>
                        <a:t>inicio</a:t>
                      </a:r>
                      <a:r>
                        <a:rPr dirty="0" sz="21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la</a:t>
                      </a:r>
                      <a:r>
                        <a:rPr dirty="0" sz="21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0">
                          <a:latin typeface="Arial MT"/>
                          <a:cs typeface="Arial MT"/>
                        </a:rPr>
                        <a:t>implementación.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</a:tr>
              <a:tr h="8185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100">
                          <a:latin typeface="Arial MT"/>
                          <a:cs typeface="Arial MT"/>
                        </a:rPr>
                        <a:t>Backend</a:t>
                      </a:r>
                      <a:r>
                        <a:rPr dirty="0" sz="2100" spc="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0">
                          <a:latin typeface="Arial MT"/>
                          <a:cs typeface="Arial MT"/>
                        </a:rPr>
                        <a:t>funcional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97A3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100" spc="135">
                          <a:latin typeface="Arial MT"/>
                          <a:cs typeface="Arial MT"/>
                        </a:rPr>
                        <a:t>9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  <a:tc>
                  <a:txBody>
                    <a:bodyPr/>
                    <a:lstStyle/>
                    <a:p>
                      <a:pPr marL="1124585" marR="600710" indent="-517525">
                        <a:lnSpc>
                          <a:spcPct val="116100"/>
                        </a:lnSpc>
                        <a:spcBef>
                          <a:spcPts val="270"/>
                        </a:spcBef>
                      </a:pPr>
                      <a:r>
                        <a:rPr dirty="0" sz="2100" spc="-50">
                          <a:latin typeface="Arial MT"/>
                          <a:cs typeface="Arial MT"/>
                        </a:rPr>
                        <a:t>Fase</a:t>
                      </a:r>
                      <a:r>
                        <a:rPr dirty="0" sz="2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2:</a:t>
                      </a:r>
                      <a:r>
                        <a:rPr dirty="0" sz="2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55">
                          <a:latin typeface="Arial MT"/>
                          <a:cs typeface="Arial MT"/>
                        </a:rPr>
                        <a:t>Desarrollo</a:t>
                      </a:r>
                      <a:r>
                        <a:rPr dirty="0" sz="2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-50">
                          <a:latin typeface="Arial MT"/>
                          <a:cs typeface="Arial MT"/>
                        </a:rPr>
                        <a:t>e </a:t>
                      </a:r>
                      <a:r>
                        <a:rPr dirty="0" sz="2100" spc="45">
                          <a:latin typeface="Arial MT"/>
                          <a:cs typeface="Arial MT"/>
                        </a:rPr>
                        <a:t>Integración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  <a:tc>
                  <a:txBody>
                    <a:bodyPr/>
                    <a:lstStyle/>
                    <a:p>
                      <a:pPr marL="758190" marR="161290" indent="-589280">
                        <a:lnSpc>
                          <a:spcPct val="116100"/>
                        </a:lnSpc>
                        <a:spcBef>
                          <a:spcPts val="270"/>
                        </a:spcBef>
                      </a:pPr>
                      <a:r>
                        <a:rPr dirty="0" sz="2100" spc="75">
                          <a:latin typeface="Arial MT"/>
                          <a:cs typeface="Arial MT"/>
                        </a:rPr>
                        <a:t>Módulos</a:t>
                      </a:r>
                      <a:r>
                        <a:rPr dirty="0" sz="210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10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55">
                          <a:latin typeface="Arial MT"/>
                          <a:cs typeface="Arial MT"/>
                        </a:rPr>
                        <a:t>autenticación,</a:t>
                      </a:r>
                      <a:r>
                        <a:rPr dirty="0" sz="210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55">
                          <a:latin typeface="Arial MT"/>
                          <a:cs typeface="Arial MT"/>
                        </a:rPr>
                        <a:t>gestión</a:t>
                      </a:r>
                      <a:r>
                        <a:rPr dirty="0" sz="210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10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10">
                          <a:latin typeface="Arial MT"/>
                          <a:cs typeface="Arial MT"/>
                        </a:rPr>
                        <a:t>dispositivos,</a:t>
                      </a:r>
                      <a:r>
                        <a:rPr dirty="0" sz="2100" spc="45">
                          <a:latin typeface="Arial MT"/>
                          <a:cs typeface="Arial MT"/>
                        </a:rPr>
                        <a:t> gestión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0">
                          <a:latin typeface="Arial MT"/>
                          <a:cs typeface="Arial MT"/>
                        </a:rPr>
                        <a:t>órdenes</a:t>
                      </a:r>
                      <a:r>
                        <a:rPr dirty="0" sz="2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0">
                          <a:latin typeface="Arial MT"/>
                          <a:cs typeface="Arial MT"/>
                        </a:rPr>
                        <a:t>remotas,</a:t>
                      </a:r>
                      <a:r>
                        <a:rPr dirty="0" sz="2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55">
                          <a:latin typeface="Arial MT"/>
                          <a:cs typeface="Arial MT"/>
                        </a:rPr>
                        <a:t>gestor</a:t>
                      </a:r>
                      <a:r>
                        <a:rPr dirty="0" sz="2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claves</a:t>
                      </a:r>
                      <a:r>
                        <a:rPr dirty="0" sz="2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y</a:t>
                      </a:r>
                      <a:r>
                        <a:rPr dirty="0" sz="2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0">
                          <a:latin typeface="Arial MT"/>
                          <a:cs typeface="Arial MT"/>
                        </a:rPr>
                        <a:t>auditoría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</a:tr>
              <a:tr h="8185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100" spc="75">
                          <a:latin typeface="Arial MT"/>
                          <a:cs typeface="Arial MT"/>
                        </a:rPr>
                        <a:t>Agente</a:t>
                      </a:r>
                      <a:r>
                        <a:rPr dirty="0" sz="21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90">
                          <a:latin typeface="Arial MT"/>
                          <a:cs typeface="Arial MT"/>
                        </a:rPr>
                        <a:t>Cliente</a:t>
                      </a:r>
                      <a:r>
                        <a:rPr dirty="0" sz="2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110">
                          <a:latin typeface="Arial MT"/>
                          <a:cs typeface="Arial MT"/>
                        </a:rPr>
                        <a:t>funcional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97A3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100" spc="-25">
                          <a:latin typeface="Arial MT"/>
                          <a:cs typeface="Arial MT"/>
                        </a:rPr>
                        <a:t>12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  <a:tc>
                  <a:txBody>
                    <a:bodyPr/>
                    <a:lstStyle/>
                    <a:p>
                      <a:pPr marL="1124585" marR="600710" indent="-517525">
                        <a:lnSpc>
                          <a:spcPct val="116100"/>
                        </a:lnSpc>
                        <a:spcBef>
                          <a:spcPts val="270"/>
                        </a:spcBef>
                      </a:pPr>
                      <a:r>
                        <a:rPr dirty="0" sz="2100" spc="-50">
                          <a:latin typeface="Arial MT"/>
                          <a:cs typeface="Arial MT"/>
                        </a:rPr>
                        <a:t>Fase</a:t>
                      </a:r>
                      <a:r>
                        <a:rPr dirty="0" sz="2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2:</a:t>
                      </a:r>
                      <a:r>
                        <a:rPr dirty="0" sz="2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55">
                          <a:latin typeface="Arial MT"/>
                          <a:cs typeface="Arial MT"/>
                        </a:rPr>
                        <a:t>Desarrollo</a:t>
                      </a:r>
                      <a:r>
                        <a:rPr dirty="0" sz="2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-50">
                          <a:latin typeface="Arial MT"/>
                          <a:cs typeface="Arial MT"/>
                        </a:rPr>
                        <a:t>e </a:t>
                      </a:r>
                      <a:r>
                        <a:rPr dirty="0" sz="2100" spc="45">
                          <a:latin typeface="Arial MT"/>
                          <a:cs typeface="Arial MT"/>
                        </a:rPr>
                        <a:t>Integración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  <a:tc>
                  <a:txBody>
                    <a:bodyPr/>
                    <a:lstStyle/>
                    <a:p>
                      <a:pPr marL="363220" marR="355600" indent="115570">
                        <a:lnSpc>
                          <a:spcPct val="116100"/>
                        </a:lnSpc>
                        <a:spcBef>
                          <a:spcPts val="270"/>
                        </a:spcBef>
                      </a:pPr>
                      <a:r>
                        <a:rPr dirty="0" sz="2100" spc="100">
                          <a:latin typeface="Arial MT"/>
                          <a:cs typeface="Arial MT"/>
                        </a:rPr>
                        <a:t>Módulo</a:t>
                      </a:r>
                      <a:r>
                        <a:rPr dirty="0" sz="2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50">
                          <a:latin typeface="Arial MT"/>
                          <a:cs typeface="Arial MT"/>
                        </a:rPr>
                        <a:t>cifrado,</a:t>
                      </a:r>
                      <a:r>
                        <a:rPr dirty="0" sz="2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110">
                          <a:latin typeface="Arial MT"/>
                          <a:cs typeface="Arial MT"/>
                        </a:rPr>
                        <a:t>módulo</a:t>
                      </a:r>
                      <a:r>
                        <a:rPr dirty="0" sz="2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0">
                          <a:latin typeface="Arial MT"/>
                          <a:cs typeface="Arial MT"/>
                        </a:rPr>
                        <a:t>respaldo</a:t>
                      </a:r>
                      <a:r>
                        <a:rPr dirty="0" sz="2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y</a:t>
                      </a:r>
                      <a:r>
                        <a:rPr dirty="0" sz="2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ejecutor</a:t>
                      </a:r>
                      <a:r>
                        <a:rPr dirty="0" sz="2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30">
                          <a:latin typeface="Arial MT"/>
                          <a:cs typeface="Arial MT"/>
                        </a:rPr>
                        <a:t>de </a:t>
                      </a:r>
                      <a:r>
                        <a:rPr dirty="0" sz="2100" spc="60">
                          <a:latin typeface="Arial MT"/>
                          <a:cs typeface="Arial MT"/>
                        </a:rPr>
                        <a:t>órdenes</a:t>
                      </a:r>
                      <a:r>
                        <a:rPr dirty="0" sz="2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85">
                          <a:latin typeface="Arial MT"/>
                          <a:cs typeface="Arial MT"/>
                        </a:rPr>
                        <a:t>implementados</a:t>
                      </a:r>
                      <a:r>
                        <a:rPr dirty="0" sz="2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y</a:t>
                      </a:r>
                      <a:r>
                        <a:rPr dirty="0" sz="2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85">
                          <a:latin typeface="Arial MT"/>
                          <a:cs typeface="Arial MT"/>
                        </a:rPr>
                        <a:t>probados</a:t>
                      </a:r>
                      <a:r>
                        <a:rPr dirty="0" sz="2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114">
                          <a:latin typeface="Arial MT"/>
                          <a:cs typeface="Arial MT"/>
                        </a:rPr>
                        <a:t>forma</a:t>
                      </a:r>
                      <a:r>
                        <a:rPr dirty="0" sz="2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50">
                          <a:latin typeface="Arial MT"/>
                          <a:cs typeface="Arial MT"/>
                        </a:rPr>
                        <a:t>unitaria.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</a:tr>
              <a:tr h="8185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100">
                          <a:latin typeface="Arial MT"/>
                          <a:cs typeface="Arial MT"/>
                        </a:rPr>
                        <a:t>Sistema</a:t>
                      </a:r>
                      <a:r>
                        <a:rPr dirty="0" sz="21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integrado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97A3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100" spc="-25">
                          <a:latin typeface="Arial MT"/>
                          <a:cs typeface="Arial MT"/>
                        </a:rPr>
                        <a:t>14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  <a:tc>
                  <a:txBody>
                    <a:bodyPr/>
                    <a:lstStyle/>
                    <a:p>
                      <a:pPr marL="1124585" marR="600710" indent="-517525">
                        <a:lnSpc>
                          <a:spcPct val="116100"/>
                        </a:lnSpc>
                        <a:spcBef>
                          <a:spcPts val="270"/>
                        </a:spcBef>
                      </a:pPr>
                      <a:r>
                        <a:rPr dirty="0" sz="2100" spc="-50">
                          <a:latin typeface="Arial MT"/>
                          <a:cs typeface="Arial MT"/>
                        </a:rPr>
                        <a:t>Fase</a:t>
                      </a:r>
                      <a:r>
                        <a:rPr dirty="0" sz="2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2:</a:t>
                      </a:r>
                      <a:r>
                        <a:rPr dirty="0" sz="2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55">
                          <a:latin typeface="Arial MT"/>
                          <a:cs typeface="Arial MT"/>
                        </a:rPr>
                        <a:t>Desarrollo</a:t>
                      </a:r>
                      <a:r>
                        <a:rPr dirty="0" sz="2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-50">
                          <a:latin typeface="Arial MT"/>
                          <a:cs typeface="Arial MT"/>
                        </a:rPr>
                        <a:t>e </a:t>
                      </a:r>
                      <a:r>
                        <a:rPr dirty="0" sz="2100" spc="45">
                          <a:latin typeface="Arial MT"/>
                          <a:cs typeface="Arial MT"/>
                        </a:rPr>
                        <a:t>Integración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100">
                          <a:latin typeface="Arial MT"/>
                          <a:cs typeface="Arial MT"/>
                        </a:rPr>
                        <a:t>Panel</a:t>
                      </a:r>
                      <a:r>
                        <a:rPr dirty="0" sz="210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Web,</a:t>
                      </a:r>
                      <a:r>
                        <a:rPr dirty="0" sz="210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Backend,</a:t>
                      </a:r>
                      <a:r>
                        <a:rPr dirty="0" sz="210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Agente</a:t>
                      </a:r>
                      <a:r>
                        <a:rPr dirty="0" sz="210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Cliente</a:t>
                      </a:r>
                      <a:r>
                        <a:rPr dirty="0" sz="210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y</a:t>
                      </a:r>
                      <a:r>
                        <a:rPr dirty="0" sz="210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base</a:t>
                      </a:r>
                      <a:r>
                        <a:rPr dirty="0" sz="210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10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-10">
                          <a:latin typeface="Arial MT"/>
                          <a:cs typeface="Arial MT"/>
                        </a:rPr>
                        <a:t>datos.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</a:tr>
              <a:tr h="8083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100" spc="100">
                          <a:latin typeface="Arial MT"/>
                          <a:cs typeface="Arial MT"/>
                        </a:rPr>
                        <a:t>Informe</a:t>
                      </a:r>
                      <a:r>
                        <a:rPr dirty="0" sz="2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1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avance</a:t>
                      </a:r>
                      <a:r>
                        <a:rPr dirty="0" sz="2100" spc="-10">
                          <a:latin typeface="Arial MT"/>
                          <a:cs typeface="Arial MT"/>
                        </a:rPr>
                        <a:t> (&gt;50%)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97A3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100" spc="-25">
                          <a:latin typeface="Arial MT"/>
                          <a:cs typeface="Arial MT"/>
                        </a:rPr>
                        <a:t>15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100">
                          <a:latin typeface="Arial MT"/>
                          <a:cs typeface="Arial MT"/>
                        </a:rPr>
                        <a:t>Cierre</a:t>
                      </a:r>
                      <a:r>
                        <a:rPr dirty="0" sz="21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-50">
                          <a:latin typeface="Arial MT"/>
                          <a:cs typeface="Arial MT"/>
                        </a:rPr>
                        <a:t>Fase</a:t>
                      </a:r>
                      <a:r>
                        <a:rPr dirty="0" sz="21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-60">
                          <a:latin typeface="Arial MT"/>
                          <a:cs typeface="Arial MT"/>
                        </a:rPr>
                        <a:t>2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  <a:tc>
                  <a:txBody>
                    <a:bodyPr/>
                    <a:lstStyle/>
                    <a:p>
                      <a:pPr marL="295275" marR="76835" indent="-211454">
                        <a:lnSpc>
                          <a:spcPct val="116100"/>
                        </a:lnSpc>
                        <a:spcBef>
                          <a:spcPts val="270"/>
                        </a:spcBef>
                      </a:pPr>
                      <a:r>
                        <a:rPr dirty="0" sz="2100">
                          <a:latin typeface="Arial MT"/>
                          <a:cs typeface="Arial MT"/>
                        </a:rPr>
                        <a:t>sistema</a:t>
                      </a:r>
                      <a:r>
                        <a:rPr dirty="0" sz="21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55">
                          <a:latin typeface="Arial MT"/>
                          <a:cs typeface="Arial MT"/>
                        </a:rPr>
                        <a:t>con</a:t>
                      </a:r>
                      <a:r>
                        <a:rPr dirty="0" sz="21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50">
                          <a:latin typeface="Arial MT"/>
                          <a:cs typeface="Arial MT"/>
                        </a:rPr>
                        <a:t>más</a:t>
                      </a:r>
                      <a:r>
                        <a:rPr dirty="0" sz="21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del</a:t>
                      </a:r>
                      <a:r>
                        <a:rPr dirty="0" sz="21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50%</a:t>
                      </a:r>
                      <a:r>
                        <a:rPr dirty="0" sz="21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1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las</a:t>
                      </a:r>
                      <a:r>
                        <a:rPr dirty="0" sz="21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55">
                          <a:latin typeface="Arial MT"/>
                          <a:cs typeface="Arial MT"/>
                        </a:rPr>
                        <a:t>funcionalidades</a:t>
                      </a:r>
                      <a:r>
                        <a:rPr dirty="0" sz="21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40">
                          <a:latin typeface="Arial MT"/>
                          <a:cs typeface="Arial MT"/>
                        </a:rPr>
                        <a:t>completas; </a:t>
                      </a:r>
                      <a:r>
                        <a:rPr dirty="0" sz="2100" spc="60">
                          <a:latin typeface="Arial MT"/>
                          <a:cs typeface="Arial MT"/>
                        </a:rPr>
                        <a:t>entrega</a:t>
                      </a:r>
                      <a:r>
                        <a:rPr dirty="0" sz="21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del</a:t>
                      </a:r>
                      <a:r>
                        <a:rPr dirty="0" sz="21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105">
                          <a:latin typeface="Arial MT"/>
                          <a:cs typeface="Arial MT"/>
                        </a:rPr>
                        <a:t>informe</a:t>
                      </a:r>
                      <a:r>
                        <a:rPr dirty="0" sz="21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1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avance</a:t>
                      </a:r>
                      <a:r>
                        <a:rPr dirty="0" sz="21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55">
                          <a:latin typeface="Arial MT"/>
                          <a:cs typeface="Arial MT"/>
                        </a:rPr>
                        <a:t>con</a:t>
                      </a:r>
                      <a:r>
                        <a:rPr dirty="0" sz="21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evidencias</a:t>
                      </a:r>
                      <a:r>
                        <a:rPr dirty="0" sz="21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40">
                          <a:latin typeface="Arial MT"/>
                          <a:cs typeface="Arial MT"/>
                        </a:rPr>
                        <a:t>definidas.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</a:tr>
              <a:tr h="8083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100">
                          <a:latin typeface="Arial MT"/>
                          <a:cs typeface="Arial MT"/>
                        </a:rPr>
                        <a:t>Sistema</a:t>
                      </a:r>
                      <a:r>
                        <a:rPr dirty="0" sz="21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al</a:t>
                      </a:r>
                      <a:r>
                        <a:rPr dirty="0" sz="21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-20">
                          <a:latin typeface="Arial MT"/>
                          <a:cs typeface="Arial MT"/>
                        </a:rPr>
                        <a:t>100%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97A3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100" spc="-25">
                          <a:latin typeface="Arial MT"/>
                          <a:cs typeface="Arial MT"/>
                        </a:rPr>
                        <a:t>17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100" spc="-50">
                          <a:latin typeface="Arial MT"/>
                          <a:cs typeface="Arial MT"/>
                        </a:rPr>
                        <a:t>Fase</a:t>
                      </a:r>
                      <a:r>
                        <a:rPr dirty="0" sz="21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3:</a:t>
                      </a:r>
                      <a:r>
                        <a:rPr dirty="0" sz="21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Pruebas</a:t>
                      </a:r>
                      <a:r>
                        <a:rPr dirty="0" sz="21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y</a:t>
                      </a:r>
                      <a:r>
                        <a:rPr dirty="0" sz="21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-10">
                          <a:latin typeface="Arial MT"/>
                          <a:cs typeface="Arial MT"/>
                        </a:rPr>
                        <a:t>Cierre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  <a:tc>
                  <a:txBody>
                    <a:bodyPr/>
                    <a:lstStyle/>
                    <a:p>
                      <a:pPr marL="1303655" marR="386715" indent="-909319">
                        <a:lnSpc>
                          <a:spcPct val="116100"/>
                        </a:lnSpc>
                        <a:spcBef>
                          <a:spcPts val="270"/>
                        </a:spcBef>
                      </a:pPr>
                      <a:r>
                        <a:rPr dirty="0" sz="2100">
                          <a:latin typeface="Arial MT"/>
                          <a:cs typeface="Arial MT"/>
                        </a:rPr>
                        <a:t>Todas</a:t>
                      </a:r>
                      <a:r>
                        <a:rPr dirty="0" sz="21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las</a:t>
                      </a:r>
                      <a:r>
                        <a:rPr dirty="0" sz="21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55">
                          <a:latin typeface="Arial MT"/>
                          <a:cs typeface="Arial MT"/>
                        </a:rPr>
                        <a:t>funcionalidades</a:t>
                      </a:r>
                      <a:r>
                        <a:rPr dirty="0" sz="21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del</a:t>
                      </a:r>
                      <a:r>
                        <a:rPr dirty="0" sz="21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sistema</a:t>
                      </a:r>
                      <a:r>
                        <a:rPr dirty="0" sz="21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0">
                          <a:latin typeface="Arial MT"/>
                          <a:cs typeface="Arial MT"/>
                        </a:rPr>
                        <a:t>implementadas;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ejecución</a:t>
                      </a:r>
                      <a:r>
                        <a:rPr dirty="0" sz="21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70">
                          <a:latin typeface="Arial MT"/>
                          <a:cs typeface="Arial MT"/>
                        </a:rPr>
                        <a:t>completa</a:t>
                      </a:r>
                      <a:r>
                        <a:rPr dirty="0" sz="210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del</a:t>
                      </a:r>
                      <a:r>
                        <a:rPr dirty="0" sz="21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75">
                          <a:latin typeface="Arial MT"/>
                          <a:cs typeface="Arial MT"/>
                        </a:rPr>
                        <a:t>plan</a:t>
                      </a:r>
                      <a:r>
                        <a:rPr dirty="0" sz="210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1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50">
                          <a:latin typeface="Arial MT"/>
                          <a:cs typeface="Arial MT"/>
                        </a:rPr>
                        <a:t>pruebas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</a:tr>
              <a:tr h="8083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100" spc="100">
                          <a:latin typeface="Arial MT"/>
                          <a:cs typeface="Arial MT"/>
                        </a:rPr>
                        <a:t>Informe</a:t>
                      </a:r>
                      <a:r>
                        <a:rPr dirty="0" sz="2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75">
                          <a:latin typeface="Arial MT"/>
                          <a:cs typeface="Arial MT"/>
                        </a:rPr>
                        <a:t>final</a:t>
                      </a:r>
                      <a:r>
                        <a:rPr dirty="0" sz="2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y</a:t>
                      </a:r>
                      <a:r>
                        <a:rPr dirty="0" sz="2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50">
                          <a:latin typeface="Arial MT"/>
                          <a:cs typeface="Arial MT"/>
                        </a:rPr>
                        <a:t>entrega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97A3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100" spc="-25">
                          <a:latin typeface="Arial MT"/>
                          <a:cs typeface="Arial MT"/>
                        </a:rPr>
                        <a:t>18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100">
                          <a:latin typeface="Arial MT"/>
                          <a:cs typeface="Arial MT"/>
                        </a:rPr>
                        <a:t>Cierre</a:t>
                      </a:r>
                      <a:r>
                        <a:rPr dirty="0" sz="21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-50">
                          <a:latin typeface="Arial MT"/>
                          <a:cs typeface="Arial MT"/>
                        </a:rPr>
                        <a:t>Fase</a:t>
                      </a:r>
                      <a:r>
                        <a:rPr dirty="0" sz="21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-60">
                          <a:latin typeface="Arial MT"/>
                          <a:cs typeface="Arial MT"/>
                        </a:rPr>
                        <a:t>3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2860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  <a:tc>
                  <a:txBody>
                    <a:bodyPr/>
                    <a:lstStyle/>
                    <a:p>
                      <a:pPr marL="483234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2100" spc="65">
                          <a:latin typeface="Arial MT"/>
                          <a:cs typeface="Arial MT"/>
                        </a:rPr>
                        <a:t>Documentación</a:t>
                      </a:r>
                      <a:r>
                        <a:rPr dirty="0" sz="21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1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cierre,</a:t>
                      </a:r>
                      <a:r>
                        <a:rPr dirty="0" sz="21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0">
                          <a:latin typeface="Arial MT"/>
                          <a:cs typeface="Arial MT"/>
                        </a:rPr>
                        <a:t>retrospectiva</a:t>
                      </a:r>
                      <a:r>
                        <a:rPr dirty="0" sz="21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del</a:t>
                      </a:r>
                      <a:r>
                        <a:rPr dirty="0" sz="21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45">
                          <a:latin typeface="Arial MT"/>
                          <a:cs typeface="Arial MT"/>
                        </a:rPr>
                        <a:t>proyecto,</a:t>
                      </a:r>
                      <a:endParaRPr sz="2100">
                        <a:latin typeface="Arial MT"/>
                        <a:cs typeface="Arial MT"/>
                      </a:endParaRPr>
                    </a:p>
                    <a:p>
                      <a:pPr marL="34417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2100" spc="105">
                          <a:latin typeface="Arial MT"/>
                          <a:cs typeface="Arial MT"/>
                        </a:rPr>
                        <a:t>informe</a:t>
                      </a:r>
                      <a:r>
                        <a:rPr dirty="0" sz="2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75">
                          <a:latin typeface="Arial MT"/>
                          <a:cs typeface="Arial MT"/>
                        </a:rPr>
                        <a:t>final</a:t>
                      </a:r>
                      <a:r>
                        <a:rPr dirty="0" sz="2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>
                          <a:latin typeface="Arial MT"/>
                          <a:cs typeface="Arial MT"/>
                        </a:rPr>
                        <a:t>y</a:t>
                      </a:r>
                      <a:r>
                        <a:rPr dirty="0" sz="2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70">
                          <a:latin typeface="Arial MT"/>
                          <a:cs typeface="Arial MT"/>
                        </a:rPr>
                        <a:t>presentación/demostración</a:t>
                      </a:r>
                      <a:r>
                        <a:rPr dirty="0" sz="2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65">
                          <a:latin typeface="Arial MT"/>
                          <a:cs typeface="Arial MT"/>
                        </a:rPr>
                        <a:t>del</a:t>
                      </a:r>
                      <a:r>
                        <a:rPr dirty="0" sz="2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00" spc="-10">
                          <a:latin typeface="Arial MT"/>
                          <a:cs typeface="Arial MT"/>
                        </a:rPr>
                        <a:t>sistema.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8572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B3B9C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787140" cy="10287000"/>
            <a:chOff x="0" y="0"/>
            <a:chExt cx="378714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003227"/>
              <a:ext cx="3122317" cy="62837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3786646" cy="7120405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226495" y="1138887"/>
            <a:ext cx="1183513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65">
                <a:latin typeface="Trebuchet MS"/>
                <a:cs typeface="Trebuchet MS"/>
              </a:rPr>
              <a:t>METODOLOGÍA</a:t>
            </a:r>
            <a:r>
              <a:rPr dirty="0" spc="-630">
                <a:latin typeface="Trebuchet MS"/>
                <a:cs typeface="Trebuchet MS"/>
              </a:rPr>
              <a:t> </a:t>
            </a:r>
            <a:r>
              <a:rPr dirty="0" spc="730">
                <a:latin typeface="Trebuchet MS"/>
                <a:cs typeface="Trebuchet MS"/>
              </a:rPr>
              <a:t>A</a:t>
            </a:r>
            <a:r>
              <a:rPr dirty="0" spc="-630">
                <a:latin typeface="Trebuchet MS"/>
                <a:cs typeface="Trebuchet MS"/>
              </a:rPr>
              <a:t> </a:t>
            </a:r>
            <a:r>
              <a:rPr dirty="0" spc="105">
                <a:latin typeface="Trebuchet MS"/>
                <a:cs typeface="Trebuchet MS"/>
              </a:rPr>
              <a:t>UTILIZAR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94131" y="2973444"/>
            <a:ext cx="8402955" cy="1139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100" spc="80">
                <a:solidFill>
                  <a:srgbClr val="FFFFFF"/>
                </a:solidFill>
                <a:latin typeface="Lucida Sans Unicode"/>
                <a:cs typeface="Lucida Sans Unicode"/>
              </a:rPr>
              <a:t>Implementamos</a:t>
            </a:r>
            <a:r>
              <a:rPr dirty="0" sz="21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dirty="0" sz="21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60">
                <a:solidFill>
                  <a:srgbClr val="FFFFFF"/>
                </a:solidFill>
                <a:latin typeface="Lucida Sans Unicode"/>
                <a:cs typeface="Lucida Sans Unicode"/>
              </a:rPr>
              <a:t>metodología</a:t>
            </a:r>
            <a:r>
              <a:rPr dirty="0" sz="21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ágil</a:t>
            </a:r>
            <a:r>
              <a:rPr dirty="0" sz="21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5">
                <a:solidFill>
                  <a:srgbClr val="FFFFFF"/>
                </a:solidFill>
                <a:latin typeface="Lucida Sans Unicode"/>
                <a:cs typeface="Lucida Sans Unicode"/>
              </a:rPr>
              <a:t>Scrum</a:t>
            </a:r>
            <a:r>
              <a:rPr dirty="0" sz="21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dirty="0" sz="21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organiza</a:t>
            </a:r>
            <a:r>
              <a:rPr dirty="0" sz="2100" spc="-25">
                <a:solidFill>
                  <a:srgbClr val="FFFFFF"/>
                </a:solidFill>
                <a:latin typeface="Lucida Sans Unicode"/>
                <a:cs typeface="Lucida Sans Unicode"/>
              </a:rPr>
              <a:t> el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desarrollo</a:t>
            </a:r>
            <a:r>
              <a:rPr dirty="0" sz="21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en</a:t>
            </a:r>
            <a:r>
              <a:rPr dirty="0" sz="21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ciclos</a:t>
            </a:r>
            <a:r>
              <a:rPr dirty="0" sz="21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cortos </a:t>
            </a:r>
            <a:r>
              <a:rPr dirty="0" sz="2100" spc="114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21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iterativos</a:t>
            </a:r>
            <a:r>
              <a:rPr dirty="0" sz="21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0">
                <a:solidFill>
                  <a:srgbClr val="FFFFFF"/>
                </a:solidFill>
                <a:latin typeface="Lucida Sans Unicode"/>
                <a:cs typeface="Lucida Sans Unicode"/>
              </a:rPr>
              <a:t>llamados</a:t>
            </a:r>
            <a:r>
              <a:rPr dirty="0" sz="21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40">
                <a:solidFill>
                  <a:srgbClr val="FFFFFF"/>
                </a:solidFill>
                <a:latin typeface="Lucida Sans Unicode"/>
                <a:cs typeface="Lucida Sans Unicode"/>
              </a:rPr>
              <a:t>sprints,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al</a:t>
            </a:r>
            <a:r>
              <a:rPr dirty="0" sz="21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final </a:t>
            </a:r>
            <a:r>
              <a:rPr dirty="0" sz="2100" spc="105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1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los</a:t>
            </a:r>
            <a:r>
              <a:rPr dirty="0" sz="21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5">
                <a:solidFill>
                  <a:srgbClr val="FFFFFF"/>
                </a:solidFill>
                <a:latin typeface="Lucida Sans Unicode"/>
                <a:cs typeface="Lucida Sans Unicode"/>
              </a:rPr>
              <a:t>cuales</a:t>
            </a:r>
            <a:r>
              <a:rPr dirty="0" sz="21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6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dirty="0" sz="21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entrega</a:t>
            </a:r>
            <a:r>
              <a:rPr dirty="0" sz="21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dirty="0" sz="21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50">
                <a:solidFill>
                  <a:srgbClr val="FFFFFF"/>
                </a:solidFill>
                <a:latin typeface="Lucida Sans Unicode"/>
                <a:cs typeface="Lucida Sans Unicode"/>
              </a:rPr>
              <a:t>incremento</a:t>
            </a:r>
            <a:r>
              <a:rPr dirty="0" sz="21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funcional</a:t>
            </a:r>
            <a:r>
              <a:rPr dirty="0" sz="21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del</a:t>
            </a:r>
            <a:r>
              <a:rPr dirty="0" sz="21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40">
                <a:solidFill>
                  <a:srgbClr val="FFFFFF"/>
                </a:solidFill>
                <a:latin typeface="Lucida Sans Unicode"/>
                <a:cs typeface="Lucida Sans Unicode"/>
              </a:rPr>
              <a:t>producto</a:t>
            </a:r>
            <a:endParaRPr sz="210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352371" y="0"/>
            <a:ext cx="2935628" cy="390206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09655" y="6423309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09655" y="7166259"/>
            <a:ext cx="95250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09655" y="8280684"/>
            <a:ext cx="95250" cy="952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840735" y="4943562"/>
            <a:ext cx="6454140" cy="3908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336550">
              <a:lnSpc>
                <a:spcPct val="100000"/>
              </a:lnSpc>
              <a:spcBef>
                <a:spcPts val="100"/>
              </a:spcBef>
            </a:pPr>
            <a:r>
              <a:rPr dirty="0" sz="4500" spc="220" b="1">
                <a:solidFill>
                  <a:srgbClr val="FFFFFF"/>
                </a:solidFill>
                <a:latin typeface="Trebuchet MS"/>
                <a:cs typeface="Trebuchet MS"/>
              </a:rPr>
              <a:t>¿Por</a:t>
            </a:r>
            <a:r>
              <a:rPr dirty="0" sz="4500" spc="-3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325" b="1">
                <a:solidFill>
                  <a:srgbClr val="FFFFFF"/>
                </a:solidFill>
                <a:latin typeface="Trebuchet MS"/>
                <a:cs typeface="Trebuchet MS"/>
              </a:rPr>
              <a:t>qué?</a:t>
            </a:r>
            <a:endParaRPr sz="4500">
              <a:latin typeface="Trebuchet MS"/>
              <a:cs typeface="Trebuchet MS"/>
            </a:endParaRPr>
          </a:p>
          <a:p>
            <a:pPr marL="12700" marR="5080">
              <a:lnSpc>
                <a:spcPct val="116100"/>
              </a:lnSpc>
              <a:spcBef>
                <a:spcPts val="4695"/>
              </a:spcBef>
            </a:pPr>
            <a:r>
              <a:rPr dirty="0" sz="2100" spc="-85">
                <a:solidFill>
                  <a:srgbClr val="FFFFFF"/>
                </a:solidFill>
                <a:latin typeface="Lucida Sans Unicode"/>
                <a:cs typeface="Lucida Sans Unicode"/>
              </a:rPr>
              <a:t>El </a:t>
            </a:r>
            <a:r>
              <a:rPr dirty="0" sz="2100" spc="55">
                <a:solidFill>
                  <a:srgbClr val="FFFFFF"/>
                </a:solidFill>
                <a:latin typeface="Lucida Sans Unicode"/>
                <a:cs typeface="Lucida Sans Unicode"/>
              </a:rPr>
              <a:t>proyecto</a:t>
            </a:r>
            <a:r>
              <a:rPr dirty="0" sz="21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tiene</a:t>
            </a:r>
            <a:r>
              <a:rPr dirty="0" sz="21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10">
                <a:solidFill>
                  <a:srgbClr val="FFFFFF"/>
                </a:solidFill>
                <a:latin typeface="Lucida Sans Unicode"/>
                <a:cs typeface="Lucida Sans Unicode"/>
              </a:rPr>
              <a:t>una</a:t>
            </a:r>
            <a:r>
              <a:rPr dirty="0" sz="21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60">
                <a:solidFill>
                  <a:srgbClr val="FFFFFF"/>
                </a:solidFill>
                <a:latin typeface="Lucida Sans Unicode"/>
                <a:cs typeface="Lucida Sans Unicode"/>
              </a:rPr>
              <a:t>duración</a:t>
            </a:r>
            <a:r>
              <a:rPr dirty="0" sz="21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fija</a:t>
            </a:r>
            <a:r>
              <a:rPr dirty="0" sz="21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dirty="0" sz="21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50">
                <a:solidFill>
                  <a:srgbClr val="FFFFFF"/>
                </a:solidFill>
                <a:latin typeface="Lucida Sans Unicode"/>
                <a:cs typeface="Lucida Sans Unicode"/>
              </a:rPr>
              <a:t>acotada</a:t>
            </a:r>
            <a:r>
              <a:rPr dirty="0" sz="21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90">
                <a:solidFill>
                  <a:srgbClr val="FFFFFF"/>
                </a:solidFill>
                <a:latin typeface="Lucida Sans Unicode"/>
                <a:cs typeface="Lucida Sans Unicode"/>
              </a:rPr>
              <a:t>(18 </a:t>
            </a:r>
            <a:r>
              <a:rPr dirty="0" sz="2100" spc="95">
                <a:solidFill>
                  <a:srgbClr val="FFFFFF"/>
                </a:solidFill>
                <a:latin typeface="Lucida Sans Unicode"/>
                <a:cs typeface="Lucida Sans Unicode"/>
              </a:rPr>
              <a:t>semanas),</a:t>
            </a:r>
            <a:r>
              <a:rPr dirty="0" sz="21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90">
                <a:solidFill>
                  <a:srgbClr val="FFFFFF"/>
                </a:solidFill>
                <a:latin typeface="Lucida Sans Unicode"/>
                <a:cs typeface="Lucida Sans Unicode"/>
              </a:rPr>
              <a:t>con</a:t>
            </a:r>
            <a:r>
              <a:rPr dirty="0" sz="21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tres</a:t>
            </a:r>
            <a:r>
              <a:rPr dirty="0" sz="21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65">
                <a:solidFill>
                  <a:srgbClr val="FFFFFF"/>
                </a:solidFill>
                <a:latin typeface="Lucida Sans Unicode"/>
                <a:cs typeface="Lucida Sans Unicode"/>
              </a:rPr>
              <a:t>entregas</a:t>
            </a:r>
            <a:r>
              <a:rPr dirty="0" sz="21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65">
                <a:solidFill>
                  <a:srgbClr val="FFFFFF"/>
                </a:solidFill>
                <a:latin typeface="Lucida Sans Unicode"/>
                <a:cs typeface="Lucida Sans Unicode"/>
              </a:rPr>
              <a:t>evaluadas.</a:t>
            </a:r>
            <a:endParaRPr sz="2100">
              <a:latin typeface="Lucida Sans Unicode"/>
              <a:cs typeface="Lucida Sans Unicode"/>
            </a:endParaRPr>
          </a:p>
          <a:p>
            <a:pPr marL="12700" marR="421640">
              <a:lnSpc>
                <a:spcPct val="116100"/>
              </a:lnSpc>
            </a:pP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dirty="0" sz="210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problematica</a:t>
            </a:r>
            <a:r>
              <a:rPr dirty="0" sz="21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tiene</a:t>
            </a:r>
            <a:r>
              <a:rPr dirty="0" sz="21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varios</a:t>
            </a:r>
            <a:r>
              <a:rPr dirty="0" sz="210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0">
                <a:solidFill>
                  <a:srgbClr val="FFFFFF"/>
                </a:solidFill>
                <a:latin typeface="Lucida Sans Unicode"/>
                <a:cs typeface="Lucida Sans Unicode"/>
              </a:rPr>
              <a:t>componentes </a:t>
            </a:r>
            <a:r>
              <a:rPr dirty="0" sz="2100" spc="45">
                <a:solidFill>
                  <a:srgbClr val="FFFFFF"/>
                </a:solidFill>
                <a:latin typeface="Lucida Sans Unicode"/>
                <a:cs typeface="Lucida Sans Unicode"/>
              </a:rPr>
              <a:t>independientes</a:t>
            </a:r>
            <a:r>
              <a:rPr dirty="0" sz="21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dirty="0" sz="21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0">
                <a:solidFill>
                  <a:srgbClr val="FFFFFF"/>
                </a:solidFill>
                <a:latin typeface="Lucida Sans Unicode"/>
                <a:cs typeface="Lucida Sans Unicode"/>
              </a:rPr>
              <a:t>pueden</a:t>
            </a:r>
            <a:r>
              <a:rPr dirty="0" sz="21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desarrollarse</a:t>
            </a:r>
            <a:r>
              <a:rPr dirty="0" sz="21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dirty="0" sz="2100" spc="65">
                <a:solidFill>
                  <a:srgbClr val="FFFFFF"/>
                </a:solidFill>
                <a:latin typeface="Lucida Sans Unicode"/>
                <a:cs typeface="Lucida Sans Unicode"/>
              </a:rPr>
              <a:t>forma</a:t>
            </a:r>
            <a:r>
              <a:rPr dirty="0" sz="21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incremental.</a:t>
            </a:r>
            <a:endParaRPr sz="2100">
              <a:latin typeface="Lucida Sans Unicode"/>
              <a:cs typeface="Lucida Sans Unicode"/>
            </a:endParaRPr>
          </a:p>
          <a:p>
            <a:pPr marL="12700" marR="254635">
              <a:lnSpc>
                <a:spcPct val="116100"/>
              </a:lnSpc>
            </a:pP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Permite</a:t>
            </a:r>
            <a:r>
              <a:rPr dirty="0" sz="2100" spc="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05">
                <a:solidFill>
                  <a:srgbClr val="FFFFFF"/>
                </a:solidFill>
                <a:latin typeface="Lucida Sans Unicode"/>
                <a:cs typeface="Lucida Sans Unicode"/>
              </a:rPr>
              <a:t>adaptarse</a:t>
            </a:r>
            <a:r>
              <a:rPr dirty="0" sz="2100" spc="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254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100" spc="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dificultades</a:t>
            </a:r>
            <a:r>
              <a:rPr dirty="0" sz="2100" spc="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5">
                <a:solidFill>
                  <a:srgbClr val="FFFFFF"/>
                </a:solidFill>
                <a:latin typeface="Lucida Sans Unicode"/>
                <a:cs typeface="Lucida Sans Unicode"/>
              </a:rPr>
              <a:t>técnicas</a:t>
            </a:r>
            <a:r>
              <a:rPr dirty="0" sz="2100" spc="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55">
                <a:solidFill>
                  <a:srgbClr val="FFFFFF"/>
                </a:solidFill>
                <a:latin typeface="Lucida Sans Unicode"/>
                <a:cs typeface="Lucida Sans Unicode"/>
              </a:rPr>
              <a:t>que 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surjan.</a:t>
            </a:r>
            <a:endParaRPr sz="210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02350" y="4116714"/>
            <a:ext cx="4885649" cy="61702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980" rIns="0" bIns="0" rtlCol="0" vert="horz">
            <a:spAutoFit/>
          </a:bodyPr>
          <a:lstStyle/>
          <a:p>
            <a:pPr marL="2454275" marR="5080" indent="-2442210">
              <a:lnSpc>
                <a:spcPts val="8100"/>
              </a:lnSpc>
              <a:spcBef>
                <a:spcPts val="740"/>
              </a:spcBef>
            </a:pPr>
            <a:r>
              <a:rPr dirty="0" spc="2205"/>
              <a:t>TECNOLOGÍAS</a:t>
            </a:r>
            <a:r>
              <a:rPr dirty="0" spc="-185"/>
              <a:t> </a:t>
            </a:r>
            <a:r>
              <a:rPr dirty="0" spc="3225"/>
              <a:t>A </a:t>
            </a:r>
            <a:r>
              <a:rPr dirty="0" spc="2039"/>
              <a:t>UTILIZAR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4902" y="2909049"/>
            <a:ext cx="4004310" cy="1873885"/>
          </a:xfrm>
          <a:prstGeom prst="rect">
            <a:avLst/>
          </a:prstGeom>
        </p:spPr>
        <p:txBody>
          <a:bodyPr wrap="square" lIns="0" tIns="2089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645"/>
              </a:spcBef>
            </a:pPr>
            <a:r>
              <a:rPr dirty="0" sz="4200" spc="305" b="1">
                <a:solidFill>
                  <a:srgbClr val="FFFFFF"/>
                </a:solidFill>
                <a:latin typeface="Trebuchet MS"/>
                <a:cs typeface="Trebuchet MS"/>
              </a:rPr>
              <a:t>Agente</a:t>
            </a:r>
            <a:r>
              <a:rPr dirty="0" sz="4200" spc="-3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200" spc="140" b="1">
                <a:solidFill>
                  <a:srgbClr val="FFFFFF"/>
                </a:solidFill>
                <a:latin typeface="Trebuchet MS"/>
                <a:cs typeface="Trebuchet MS"/>
              </a:rPr>
              <a:t>cliente</a:t>
            </a:r>
            <a:endParaRPr sz="4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975"/>
              </a:spcBef>
            </a:pPr>
            <a:r>
              <a:rPr dirty="0" sz="2700" spc="370">
                <a:solidFill>
                  <a:srgbClr val="FFFFFF"/>
                </a:solidFill>
                <a:latin typeface="Lucida Sans Unicode"/>
                <a:cs typeface="Lucida Sans Unicode"/>
              </a:rPr>
              <a:t>C#</a:t>
            </a:r>
            <a:r>
              <a:rPr dirty="0" sz="270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325">
                <a:solidFill>
                  <a:srgbClr val="FFFFFF"/>
                </a:solidFill>
                <a:latin typeface="Lucida Sans Unicode"/>
                <a:cs typeface="Lucida Sans Unicode"/>
              </a:rPr>
              <a:t>+</a:t>
            </a:r>
            <a:r>
              <a:rPr dirty="0" sz="270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20">
                <a:solidFill>
                  <a:srgbClr val="FFFFFF"/>
                </a:solidFill>
                <a:latin typeface="Lucida Sans Unicode"/>
                <a:cs typeface="Lucida Sans Unicode"/>
              </a:rPr>
              <a:t>.NET8</a:t>
            </a:r>
            <a:endParaRPr sz="27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dirty="0" sz="2700">
                <a:solidFill>
                  <a:srgbClr val="FFFFFF"/>
                </a:solidFill>
                <a:latin typeface="Lucida Sans Unicode"/>
                <a:cs typeface="Lucida Sans Unicode"/>
              </a:rPr>
              <a:t>Visual</a:t>
            </a:r>
            <a:r>
              <a:rPr dirty="0" sz="2700" spc="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10">
                <a:solidFill>
                  <a:srgbClr val="FFFFFF"/>
                </a:solidFill>
                <a:latin typeface="Lucida Sans Unicode"/>
                <a:cs typeface="Lucida Sans Unicode"/>
              </a:rPr>
              <a:t>Studio</a:t>
            </a:r>
            <a:endParaRPr sz="270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49978" cy="41295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103474" y="3104260"/>
            <a:ext cx="3867150" cy="1083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200" spc="380" b="1">
                <a:solidFill>
                  <a:srgbClr val="FFFFFF"/>
                </a:solidFill>
                <a:latin typeface="Trebuchet MS"/>
                <a:cs typeface="Trebuchet MS"/>
              </a:rPr>
              <a:t>Base</a:t>
            </a:r>
            <a:r>
              <a:rPr dirty="0" sz="4200" spc="-3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200" spc="285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4200" spc="-3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200" spc="345" b="1">
                <a:solidFill>
                  <a:srgbClr val="FFFFFF"/>
                </a:solidFill>
                <a:latin typeface="Trebuchet MS"/>
                <a:cs typeface="Trebuchet MS"/>
              </a:rPr>
              <a:t>datos</a:t>
            </a:r>
            <a:endParaRPr sz="4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2700" spc="-10">
                <a:solidFill>
                  <a:srgbClr val="FFFFFF"/>
                </a:solidFill>
                <a:latin typeface="Lucida Sans Unicode"/>
                <a:cs typeface="Lucida Sans Unicode"/>
              </a:rPr>
              <a:t>PostgreSQL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52003" y="3221376"/>
            <a:ext cx="4850765" cy="1083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200" spc="340" b="1">
                <a:solidFill>
                  <a:srgbClr val="FFFFFF"/>
                </a:solidFill>
                <a:latin typeface="Trebuchet MS"/>
                <a:cs typeface="Trebuchet MS"/>
              </a:rPr>
              <a:t>Almacenamiento</a:t>
            </a:r>
            <a:endParaRPr sz="4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2700" spc="-10">
                <a:solidFill>
                  <a:srgbClr val="FFFFFF"/>
                </a:solidFill>
                <a:latin typeface="Lucida Sans Unicode"/>
                <a:cs typeface="Lucida Sans Unicode"/>
              </a:rPr>
              <a:t>MinIO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5199" y="5725916"/>
            <a:ext cx="3444240" cy="118237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dirty="0" sz="4200" spc="204" b="1">
                <a:solidFill>
                  <a:srgbClr val="FFFFFF"/>
                </a:solidFill>
                <a:latin typeface="Trebuchet MS"/>
                <a:cs typeface="Trebuchet MS"/>
              </a:rPr>
              <a:t>API</a:t>
            </a:r>
            <a:r>
              <a:rPr dirty="0" sz="4200" spc="-3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200" spc="335" b="1">
                <a:solidFill>
                  <a:srgbClr val="FFFFFF"/>
                </a:solidFill>
                <a:latin typeface="Trebuchet MS"/>
                <a:cs typeface="Trebuchet MS"/>
              </a:rPr>
              <a:t>Backend</a:t>
            </a:r>
            <a:endParaRPr sz="4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dirty="0" sz="2700" spc="-100">
                <a:solidFill>
                  <a:srgbClr val="FFFFFF"/>
                </a:solidFill>
                <a:latin typeface="Lucida Sans Unicode"/>
                <a:cs typeface="Lucida Sans Unicode"/>
              </a:rPr>
              <a:t>ASP.NET</a:t>
            </a:r>
            <a:r>
              <a:rPr dirty="0" sz="27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55">
                <a:solidFill>
                  <a:srgbClr val="FFFFFF"/>
                </a:solidFill>
                <a:latin typeface="Lucida Sans Unicode"/>
                <a:cs typeface="Lucida Sans Unicode"/>
              </a:rPr>
              <a:t>Core</a:t>
            </a:r>
            <a:endParaRPr sz="2700">
              <a:latin typeface="Lucida Sans Unicode"/>
              <a:cs typeface="Lucida Sans Unicode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736021"/>
            <a:ext cx="2676944" cy="455097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569158" y="5789864"/>
            <a:ext cx="2936240" cy="1560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200" spc="245" b="1">
                <a:solidFill>
                  <a:srgbClr val="FFFFFF"/>
                </a:solidFill>
                <a:latin typeface="Trebuchet MS"/>
                <a:cs typeface="Trebuchet MS"/>
              </a:rPr>
              <a:t>Panel</a:t>
            </a:r>
            <a:r>
              <a:rPr dirty="0" sz="4200" spc="-3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200" spc="400" b="1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endParaRPr sz="4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2700" spc="105">
                <a:solidFill>
                  <a:srgbClr val="FFFFFF"/>
                </a:solidFill>
                <a:latin typeface="Lucida Sans Unicode"/>
                <a:cs typeface="Lucida Sans Unicode"/>
              </a:rPr>
              <a:t>React</a:t>
            </a:r>
            <a:endParaRPr sz="27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dirty="0" sz="2700">
                <a:solidFill>
                  <a:srgbClr val="FFFFFF"/>
                </a:solidFill>
                <a:latin typeface="Lucida Sans Unicode"/>
                <a:cs typeface="Lucida Sans Unicode"/>
              </a:rPr>
              <a:t>Tailwind</a:t>
            </a:r>
            <a:r>
              <a:rPr dirty="0" sz="27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25">
                <a:solidFill>
                  <a:srgbClr val="FFFFFF"/>
                </a:solidFill>
                <a:latin typeface="Lucida Sans Unicode"/>
                <a:cs typeface="Lucida Sans Unicode"/>
              </a:rPr>
              <a:t>CSS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37006" y="5672107"/>
            <a:ext cx="2880995" cy="20364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200" spc="330" b="1">
                <a:solidFill>
                  <a:srgbClr val="FFFFFF"/>
                </a:solidFill>
                <a:latin typeface="Trebuchet MS"/>
                <a:cs typeface="Trebuchet MS"/>
              </a:rPr>
              <a:t>Seguridad</a:t>
            </a:r>
            <a:endParaRPr sz="4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2700" spc="-10">
                <a:solidFill>
                  <a:srgbClr val="FFFFFF"/>
                </a:solidFill>
                <a:latin typeface="Lucida Sans Unicode"/>
                <a:cs typeface="Lucida Sans Unicode"/>
              </a:rPr>
              <a:t>OpenSSL</a:t>
            </a:r>
            <a:endParaRPr sz="27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dirty="0" sz="2700" spc="180">
                <a:solidFill>
                  <a:srgbClr val="FFFFFF"/>
                </a:solidFill>
                <a:latin typeface="Lucida Sans Unicode"/>
                <a:cs typeface="Lucida Sans Unicode"/>
              </a:rPr>
              <a:t>JWT</a:t>
            </a:r>
            <a:endParaRPr sz="27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dirty="0" sz="2700" spc="-90">
                <a:solidFill>
                  <a:srgbClr val="FFFFFF"/>
                </a:solidFill>
                <a:latin typeface="Lucida Sans Unicode"/>
                <a:cs typeface="Lucida Sans Unicode"/>
              </a:rPr>
              <a:t>Let’s</a:t>
            </a:r>
            <a:r>
              <a:rPr dirty="0" sz="27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10">
                <a:solidFill>
                  <a:srgbClr val="FFFFFF"/>
                </a:solidFill>
                <a:latin typeface="Lucida Sans Unicode"/>
                <a:cs typeface="Lucida Sans Unicode"/>
              </a:rPr>
              <a:t>Encrypt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57215" y="7799884"/>
            <a:ext cx="4251960" cy="166751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55"/>
              </a:spcBef>
            </a:pPr>
            <a:r>
              <a:rPr dirty="0" sz="4200" spc="210" b="1">
                <a:solidFill>
                  <a:srgbClr val="FFFFFF"/>
                </a:solidFill>
                <a:latin typeface="Trebuchet MS"/>
                <a:cs typeface="Trebuchet MS"/>
              </a:rPr>
              <a:t>Infraestructura</a:t>
            </a:r>
            <a:endParaRPr sz="4200">
              <a:latin typeface="Trebuchet MS"/>
              <a:cs typeface="Trebuchet MS"/>
            </a:endParaRPr>
          </a:p>
          <a:p>
            <a:pPr algn="ctr" marL="1533525" marR="1525905">
              <a:lnSpc>
                <a:spcPts val="3750"/>
              </a:lnSpc>
            </a:pPr>
            <a:r>
              <a:rPr dirty="0" sz="2700" spc="-10">
                <a:solidFill>
                  <a:srgbClr val="FFFFFF"/>
                </a:solidFill>
                <a:latin typeface="Lucida Sans Unicode"/>
                <a:cs typeface="Lucida Sans Unicode"/>
              </a:rPr>
              <a:t>Docker GitHub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54250" y="8024752"/>
            <a:ext cx="2300605" cy="1560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200" spc="300" b="1">
                <a:solidFill>
                  <a:srgbClr val="FFFFFF"/>
                </a:solidFill>
                <a:latin typeface="Trebuchet MS"/>
                <a:cs typeface="Trebuchet MS"/>
              </a:rPr>
              <a:t>Pruebas</a:t>
            </a:r>
            <a:endParaRPr sz="4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2700" spc="-10">
                <a:solidFill>
                  <a:srgbClr val="FFFFFF"/>
                </a:solidFill>
                <a:latin typeface="Lucida Sans Unicode"/>
                <a:cs typeface="Lucida Sans Unicode"/>
              </a:rPr>
              <a:t>xUnit</a:t>
            </a:r>
            <a:endParaRPr sz="27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dirty="0" sz="2700" spc="80">
                <a:solidFill>
                  <a:srgbClr val="FFFFFF"/>
                </a:solidFill>
                <a:latin typeface="Lucida Sans Unicode"/>
                <a:cs typeface="Lucida Sans Unicode"/>
              </a:rPr>
              <a:t>Postman</a:t>
            </a:r>
            <a:endParaRPr sz="2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7156" rIns="0" bIns="0" rtlCol="0" vert="horz">
            <a:spAutoFit/>
          </a:bodyPr>
          <a:lstStyle/>
          <a:p>
            <a:pPr marL="736600">
              <a:lnSpc>
                <a:spcPct val="100000"/>
              </a:lnSpc>
              <a:spcBef>
                <a:spcPts val="100"/>
              </a:spcBef>
            </a:pPr>
            <a:r>
              <a:rPr dirty="0" spc="360">
                <a:latin typeface="Trebuchet MS"/>
                <a:cs typeface="Trebuchet MS"/>
              </a:rPr>
              <a:t>MODELO</a:t>
            </a:r>
            <a:r>
              <a:rPr dirty="0" spc="-620">
                <a:latin typeface="Trebuchet MS"/>
                <a:cs typeface="Trebuchet MS"/>
              </a:rPr>
              <a:t> </a:t>
            </a:r>
            <a:r>
              <a:rPr dirty="0" spc="260">
                <a:latin typeface="Trebuchet MS"/>
                <a:cs typeface="Trebuchet MS"/>
              </a:rPr>
              <a:t>RELACIONAL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92984"/>
            <a:ext cx="2452775" cy="690466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9314" y="2370037"/>
            <a:ext cx="10229848" cy="67246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230667"/>
            <a:ext cx="6919595" cy="8056880"/>
            <a:chOff x="0" y="2230667"/>
            <a:chExt cx="6919595" cy="80568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30667"/>
              <a:ext cx="3018343" cy="719843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208299"/>
              <a:ext cx="6919348" cy="607869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584399" y="493787"/>
            <a:ext cx="7117715" cy="2151380"/>
          </a:xfrm>
          <a:prstGeom prst="rect"/>
        </p:spPr>
        <p:txBody>
          <a:bodyPr wrap="square" lIns="0" tIns="93980" rIns="0" bIns="0" rtlCol="0" vert="horz">
            <a:spAutoFit/>
          </a:bodyPr>
          <a:lstStyle/>
          <a:p>
            <a:pPr marL="12700" marR="5080" indent="324485">
              <a:lnSpc>
                <a:spcPts val="8100"/>
              </a:lnSpc>
              <a:spcBef>
                <a:spcPts val="740"/>
              </a:spcBef>
            </a:pPr>
            <a:r>
              <a:rPr dirty="0" spc="625">
                <a:latin typeface="Trebuchet MS"/>
                <a:cs typeface="Trebuchet MS"/>
              </a:rPr>
              <a:t>DIAGRAMA</a:t>
            </a:r>
            <a:r>
              <a:rPr dirty="0" spc="-610">
                <a:latin typeface="Trebuchet MS"/>
                <a:cs typeface="Trebuchet MS"/>
              </a:rPr>
              <a:t> </a:t>
            </a:r>
            <a:r>
              <a:rPr dirty="0" spc="170">
                <a:latin typeface="Trebuchet MS"/>
                <a:cs typeface="Trebuchet MS"/>
              </a:rPr>
              <a:t>DE </a:t>
            </a:r>
            <a:r>
              <a:rPr dirty="0" spc="285">
                <a:latin typeface="Trebuchet MS"/>
                <a:cs typeface="Trebuchet MS"/>
              </a:rPr>
              <a:t>ARQUITECTURA</a:t>
            </a: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8773" y="3692859"/>
            <a:ext cx="9606057" cy="47720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58271" y="1962979"/>
            <a:ext cx="7619999" cy="75247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7142" y="4568980"/>
              <a:ext cx="14200856" cy="57180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835081"/>
              <a:ext cx="3651136" cy="445191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385760" y="0"/>
              <a:ext cx="2902239" cy="6863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45323" y="2594014"/>
              <a:ext cx="9696449" cy="60578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2920" y="2640261"/>
              <a:ext cx="7210424" cy="5905500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8050" rIns="0" bIns="0" rtlCol="0" vert="horz">
            <a:spAutoFit/>
          </a:bodyPr>
          <a:lstStyle/>
          <a:p>
            <a:pPr marL="2129155">
              <a:lnSpc>
                <a:spcPct val="100000"/>
              </a:lnSpc>
              <a:spcBef>
                <a:spcPts val="100"/>
              </a:spcBef>
            </a:pPr>
            <a:r>
              <a:rPr dirty="0" spc="2720"/>
              <a:t>MOCKUPS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196417" cy="6416533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03489" y="1631440"/>
            <a:ext cx="823722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65">
                <a:latin typeface="Trebuchet MS"/>
                <a:cs typeface="Trebuchet MS"/>
              </a:rPr>
              <a:t>PRÓXIMOS</a:t>
            </a:r>
            <a:r>
              <a:rPr dirty="0" spc="-625">
                <a:latin typeface="Trebuchet MS"/>
                <a:cs typeface="Trebuchet MS"/>
              </a:rPr>
              <a:t> </a:t>
            </a:r>
            <a:r>
              <a:rPr dirty="0" spc="590">
                <a:latin typeface="Trebuchet MS"/>
                <a:cs typeface="Trebuchet MS"/>
              </a:rPr>
              <a:t>PASOS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34178" y="3028406"/>
            <a:ext cx="8575675" cy="4111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1115" marR="23495" indent="-635">
              <a:lnSpc>
                <a:spcPct val="116100"/>
              </a:lnSpc>
              <a:spcBef>
                <a:spcPts val="100"/>
              </a:spcBef>
            </a:pPr>
            <a:r>
              <a:rPr dirty="0" sz="2100" spc="114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dirty="0" sz="21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dirty="0" sz="21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90">
                <a:solidFill>
                  <a:srgbClr val="FFFFFF"/>
                </a:solidFill>
                <a:latin typeface="Lucida Sans Unicode"/>
                <a:cs typeface="Lucida Sans Unicode"/>
              </a:rPr>
              <a:t>segunda</a:t>
            </a:r>
            <a:r>
              <a:rPr dirty="0" sz="21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0">
                <a:solidFill>
                  <a:srgbClr val="FFFFFF"/>
                </a:solidFill>
                <a:latin typeface="Lucida Sans Unicode"/>
                <a:cs typeface="Lucida Sans Unicode"/>
              </a:rPr>
              <a:t>fase</a:t>
            </a:r>
            <a:r>
              <a:rPr dirty="0" sz="21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del</a:t>
            </a:r>
            <a:r>
              <a:rPr dirty="0" sz="21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55">
                <a:solidFill>
                  <a:srgbClr val="FFFFFF"/>
                </a:solidFill>
                <a:latin typeface="Lucida Sans Unicode"/>
                <a:cs typeface="Lucida Sans Unicode"/>
              </a:rPr>
              <a:t>proyecto</a:t>
            </a:r>
            <a:r>
              <a:rPr dirty="0" sz="21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iniciaremos</a:t>
            </a:r>
            <a:r>
              <a:rPr dirty="0" sz="21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90">
                <a:solidFill>
                  <a:srgbClr val="FFFFFF"/>
                </a:solidFill>
                <a:latin typeface="Lucida Sans Unicode"/>
                <a:cs typeface="Lucida Sans Unicode"/>
              </a:rPr>
              <a:t>con</a:t>
            </a:r>
            <a:r>
              <a:rPr dirty="0" sz="21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dirty="0" sz="21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Sprint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Planning</a:t>
            </a:r>
            <a:r>
              <a:rPr dirty="0" sz="21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25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dirty="0" sz="21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definir</a:t>
            </a:r>
            <a:r>
              <a:rPr dirty="0" sz="21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dirty="0" sz="21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Sprint</a:t>
            </a:r>
            <a:r>
              <a:rPr dirty="0" sz="21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Backlog,</a:t>
            </a:r>
            <a:r>
              <a:rPr dirty="0" sz="21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dirty="0" sz="21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95">
                <a:solidFill>
                  <a:srgbClr val="FFFFFF"/>
                </a:solidFill>
                <a:latin typeface="Lucida Sans Unicode"/>
                <a:cs typeface="Lucida Sans Unicode"/>
              </a:rPr>
              <a:t>cual</a:t>
            </a:r>
            <a:r>
              <a:rPr dirty="0" sz="21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60">
                <a:solidFill>
                  <a:srgbClr val="FFFFFF"/>
                </a:solidFill>
                <a:latin typeface="Lucida Sans Unicode"/>
                <a:cs typeface="Lucida Sans Unicode"/>
              </a:rPr>
              <a:t>monitoreamos</a:t>
            </a:r>
            <a:r>
              <a:rPr dirty="0" sz="21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50">
                <a:solidFill>
                  <a:srgbClr val="FFFFFF"/>
                </a:solidFill>
                <a:latin typeface="Lucida Sans Unicode"/>
                <a:cs typeface="Lucida Sans Unicode"/>
              </a:rPr>
              <a:t>en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dirty="0" sz="21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5">
                <a:solidFill>
                  <a:srgbClr val="FFFFFF"/>
                </a:solidFill>
                <a:latin typeface="Lucida Sans Unicode"/>
                <a:cs typeface="Lucida Sans Unicode"/>
              </a:rPr>
              <a:t>Scrumboard</a:t>
            </a:r>
            <a:r>
              <a:rPr dirty="0" sz="21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dirty="0" sz="21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55">
                <a:solidFill>
                  <a:srgbClr val="FFFFFF"/>
                </a:solidFill>
                <a:latin typeface="Lucida Sans Unicode"/>
                <a:cs typeface="Lucida Sans Unicode"/>
              </a:rPr>
              <a:t>controlamos</a:t>
            </a:r>
            <a:r>
              <a:rPr dirty="0" sz="21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90">
                <a:solidFill>
                  <a:srgbClr val="FFFFFF"/>
                </a:solidFill>
                <a:latin typeface="Lucida Sans Unicode"/>
                <a:cs typeface="Lucida Sans Unicode"/>
              </a:rPr>
              <a:t>con</a:t>
            </a:r>
            <a:r>
              <a:rPr dirty="0" sz="21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dirty="0" sz="21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Burndown</a:t>
            </a:r>
            <a:r>
              <a:rPr dirty="0" sz="21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Chart.</a:t>
            </a:r>
            <a:endParaRPr sz="2100">
              <a:latin typeface="Lucida Sans Unicode"/>
              <a:cs typeface="Lucida Sans Unicode"/>
            </a:endParaRPr>
          </a:p>
          <a:p>
            <a:pPr algn="ctr" marL="12065" marR="5080" indent="-635">
              <a:lnSpc>
                <a:spcPct val="116100"/>
              </a:lnSpc>
            </a:pP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Realizaremos</a:t>
            </a:r>
            <a:r>
              <a:rPr dirty="0" sz="210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dirty="0" sz="210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Daily</a:t>
            </a:r>
            <a:r>
              <a:rPr dirty="0" sz="210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Meetings</a:t>
            </a:r>
            <a:r>
              <a:rPr dirty="0" sz="21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25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dirty="0" sz="210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45">
                <a:solidFill>
                  <a:srgbClr val="FFFFFF"/>
                </a:solidFill>
                <a:latin typeface="Lucida Sans Unicode"/>
                <a:cs typeface="Lucida Sans Unicode"/>
              </a:rPr>
              <a:t>coordinar</a:t>
            </a:r>
            <a:r>
              <a:rPr dirty="0" sz="210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los</a:t>
            </a:r>
            <a:r>
              <a:rPr dirty="0" sz="210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25">
                <a:solidFill>
                  <a:srgbClr val="FFFFFF"/>
                </a:solidFill>
                <a:latin typeface="Lucida Sans Unicode"/>
                <a:cs typeface="Lucida Sans Unicode"/>
              </a:rPr>
              <a:t>avances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diarios</a:t>
            </a:r>
            <a:r>
              <a:rPr dirty="0" sz="21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dirty="0" sz="21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0">
                <a:solidFill>
                  <a:srgbClr val="FFFFFF"/>
                </a:solidFill>
                <a:latin typeface="Lucida Sans Unicode"/>
                <a:cs typeface="Lucida Sans Unicode"/>
              </a:rPr>
              <a:t>mantener</a:t>
            </a:r>
            <a:r>
              <a:rPr dirty="0" sz="21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dirty="0" sz="21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registro</a:t>
            </a:r>
            <a:r>
              <a:rPr dirty="0" sz="21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05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1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55">
                <a:solidFill>
                  <a:srgbClr val="FFFFFF"/>
                </a:solidFill>
                <a:latin typeface="Lucida Sans Unicode"/>
                <a:cs typeface="Lucida Sans Unicode"/>
              </a:rPr>
              <a:t>impedimentos</a:t>
            </a:r>
            <a:r>
              <a:rPr dirty="0" sz="21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0">
                <a:solidFill>
                  <a:srgbClr val="FFFFFF"/>
                </a:solidFill>
                <a:latin typeface="Lucida Sans Unicode"/>
                <a:cs typeface="Lucida Sans Unicode"/>
              </a:rPr>
              <a:t>(Impediment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Log)</a:t>
            </a:r>
            <a:r>
              <a:rPr dirty="0" sz="21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25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 resolver bloqueos </a:t>
            </a:r>
            <a:r>
              <a:rPr dirty="0" sz="2100" spc="60">
                <a:solidFill>
                  <a:srgbClr val="FFFFFF"/>
                </a:solidFill>
                <a:latin typeface="Lucida Sans Unicode"/>
                <a:cs typeface="Lucida Sans Unicode"/>
              </a:rPr>
              <a:t>rápidamente.</a:t>
            </a:r>
            <a:r>
              <a:rPr dirty="0" sz="21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80">
                <a:solidFill>
                  <a:srgbClr val="FFFFFF"/>
                </a:solidFill>
                <a:latin typeface="Lucida Sans Unicode"/>
                <a:cs typeface="Lucida Sans Unicode"/>
              </a:rPr>
              <a:t>Al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Lucida Sans Unicode"/>
                <a:cs typeface="Lucida Sans Unicode"/>
              </a:rPr>
              <a:t>finalizar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75">
                <a:solidFill>
                  <a:srgbClr val="FFFFFF"/>
                </a:solidFill>
                <a:latin typeface="Lucida Sans Unicode"/>
                <a:cs typeface="Lucida Sans Unicode"/>
              </a:rPr>
              <a:t>cada </a:t>
            </a:r>
            <a:r>
              <a:rPr dirty="0" sz="2100" spc="70">
                <a:solidFill>
                  <a:srgbClr val="FFFFFF"/>
                </a:solidFill>
                <a:latin typeface="Lucida Sans Unicode"/>
                <a:cs typeface="Lucida Sans Unicode"/>
              </a:rPr>
              <a:t>etapa,</a:t>
            </a:r>
            <a:r>
              <a:rPr dirty="0" sz="21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0">
                <a:solidFill>
                  <a:srgbClr val="FFFFFF"/>
                </a:solidFill>
                <a:latin typeface="Lucida Sans Unicode"/>
                <a:cs typeface="Lucida Sans Unicode"/>
              </a:rPr>
              <a:t>ejecutamos</a:t>
            </a:r>
            <a:r>
              <a:rPr dirty="0" sz="21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dirty="0" sz="21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65">
                <a:solidFill>
                  <a:srgbClr val="FFFFFF"/>
                </a:solidFill>
                <a:latin typeface="Lucida Sans Unicode"/>
                <a:cs typeface="Lucida Sans Unicode"/>
              </a:rPr>
              <a:t>Release</a:t>
            </a:r>
            <a:r>
              <a:rPr dirty="0" sz="21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Review</a:t>
            </a:r>
            <a:r>
              <a:rPr dirty="0" sz="21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dirty="0" sz="21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dirty="0" sz="21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45">
                <a:solidFill>
                  <a:srgbClr val="FFFFFF"/>
                </a:solidFill>
                <a:latin typeface="Lucida Sans Unicode"/>
                <a:cs typeface="Lucida Sans Unicode"/>
              </a:rPr>
              <a:t>Retrospectiva</a:t>
            </a:r>
            <a:r>
              <a:rPr dirty="0" sz="21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Lucida Sans Unicode"/>
                <a:cs typeface="Lucida Sans Unicode"/>
              </a:rPr>
              <a:t>del </a:t>
            </a:r>
            <a:r>
              <a:rPr dirty="0" sz="2100" spc="55">
                <a:solidFill>
                  <a:srgbClr val="FFFFFF"/>
                </a:solidFill>
                <a:latin typeface="Lucida Sans Unicode"/>
                <a:cs typeface="Lucida Sans Unicode"/>
              </a:rPr>
              <a:t>proyecto</a:t>
            </a:r>
            <a:r>
              <a:rPr dirty="0" sz="21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25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dirty="0" sz="21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0">
                <a:solidFill>
                  <a:srgbClr val="FFFFFF"/>
                </a:solidFill>
                <a:latin typeface="Lucida Sans Unicode"/>
                <a:cs typeface="Lucida Sans Unicode"/>
              </a:rPr>
              <a:t>evaluar</a:t>
            </a:r>
            <a:r>
              <a:rPr dirty="0" sz="21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los</a:t>
            </a:r>
            <a:r>
              <a:rPr dirty="0" sz="21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55">
                <a:solidFill>
                  <a:srgbClr val="FFFFFF"/>
                </a:solidFill>
                <a:latin typeface="Lucida Sans Unicode"/>
                <a:cs typeface="Lucida Sans Unicode"/>
              </a:rPr>
              <a:t>entregables</a:t>
            </a:r>
            <a:r>
              <a:rPr dirty="0" sz="21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dirty="0" sz="21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45">
                <a:solidFill>
                  <a:srgbClr val="FFFFFF"/>
                </a:solidFill>
                <a:latin typeface="Lucida Sans Unicode"/>
                <a:cs typeface="Lucida Sans Unicode"/>
              </a:rPr>
              <a:t>mejorar</a:t>
            </a:r>
            <a:r>
              <a:rPr dirty="0" sz="21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dirty="0" sz="21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00">
                <a:solidFill>
                  <a:srgbClr val="FFFFFF"/>
                </a:solidFill>
                <a:latin typeface="Lucida Sans Unicode"/>
                <a:cs typeface="Lucida Sans Unicode"/>
              </a:rPr>
              <a:t>dinámica</a:t>
            </a:r>
            <a:r>
              <a:rPr dirty="0" sz="21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trabajo.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0">
                <a:solidFill>
                  <a:srgbClr val="FFFFFF"/>
                </a:solidFill>
                <a:latin typeface="Lucida Sans Unicode"/>
                <a:cs typeface="Lucida Sans Unicode"/>
              </a:rPr>
              <a:t>Con</a:t>
            </a:r>
            <a:r>
              <a:rPr dirty="0" sz="2100" spc="-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todo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55">
                <a:solidFill>
                  <a:srgbClr val="FFFFFF"/>
                </a:solidFill>
                <a:latin typeface="Lucida Sans Unicode"/>
                <a:cs typeface="Lucida Sans Unicode"/>
              </a:rPr>
              <a:t>este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40">
                <a:solidFill>
                  <a:srgbClr val="FFFFFF"/>
                </a:solidFill>
                <a:latin typeface="Lucida Sans Unicode"/>
                <a:cs typeface="Lucida Sans Unicode"/>
              </a:rPr>
              <a:t>flujo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55">
                <a:solidFill>
                  <a:srgbClr val="FFFFFF"/>
                </a:solidFill>
                <a:latin typeface="Lucida Sans Unicode"/>
                <a:cs typeface="Lucida Sans Unicode"/>
              </a:rPr>
              <a:t>metodológico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afianzado,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0">
                <a:solidFill>
                  <a:srgbClr val="FFFFFF"/>
                </a:solidFill>
                <a:latin typeface="Lucida Sans Unicode"/>
                <a:cs typeface="Lucida Sans Unicode"/>
              </a:rPr>
              <a:t>daremos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inicio</a:t>
            </a:r>
            <a:r>
              <a:rPr dirty="0" sz="21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254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1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dirty="0" sz="21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Fase</a:t>
            </a:r>
            <a:r>
              <a:rPr dirty="0" sz="21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2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r>
              <a:rPr dirty="0" sz="21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0">
                <a:solidFill>
                  <a:srgbClr val="FFFFFF"/>
                </a:solidFill>
                <a:latin typeface="Lucida Sans Unicode"/>
                <a:cs typeface="Lucida Sans Unicode"/>
              </a:rPr>
              <a:t>enfocándonos</a:t>
            </a:r>
            <a:r>
              <a:rPr dirty="0" sz="21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0">
                <a:solidFill>
                  <a:srgbClr val="FFFFFF"/>
                </a:solidFill>
                <a:latin typeface="Lucida Sans Unicode"/>
                <a:cs typeface="Lucida Sans Unicode"/>
              </a:rPr>
              <a:t>directamente</a:t>
            </a:r>
            <a:r>
              <a:rPr dirty="0" sz="21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en</a:t>
            </a:r>
            <a:r>
              <a:rPr dirty="0" sz="21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dirty="0" sz="21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Desarrollo </a:t>
            </a:r>
            <a:r>
              <a:rPr dirty="0" sz="2100" spc="105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1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dirty="0" sz="21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Lucida Sans Unicode"/>
                <a:cs typeface="Lucida Sans Unicode"/>
              </a:rPr>
              <a:t>API</a:t>
            </a:r>
            <a:r>
              <a:rPr dirty="0" sz="21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5">
                <a:solidFill>
                  <a:srgbClr val="FFFFFF"/>
                </a:solidFill>
                <a:latin typeface="Lucida Sans Unicode"/>
                <a:cs typeface="Lucida Sans Unicode"/>
              </a:rPr>
              <a:t>Backend</a:t>
            </a:r>
            <a:r>
              <a:rPr dirty="0" sz="21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dirty="0" sz="21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dirty="0" sz="21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14">
                <a:solidFill>
                  <a:srgbClr val="FFFFFF"/>
                </a:solidFill>
                <a:latin typeface="Lucida Sans Unicode"/>
                <a:cs typeface="Lucida Sans Unicode"/>
              </a:rPr>
              <a:t>base</a:t>
            </a:r>
            <a:r>
              <a:rPr dirty="0" sz="21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05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1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Lucida Sans Unicode"/>
                <a:cs typeface="Lucida Sans Unicode"/>
              </a:rPr>
              <a:t>datos.</a:t>
            </a:r>
            <a:endParaRPr sz="21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877250" y="0"/>
            <a:ext cx="5410835" cy="10287000"/>
            <a:chOff x="12877250" y="0"/>
            <a:chExt cx="5410835" cy="102870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66853" y="6135618"/>
              <a:ext cx="3021146" cy="415138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77250" y="0"/>
              <a:ext cx="5410749" cy="10286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43025" y="1628834"/>
            <a:ext cx="720217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40">
                <a:latin typeface="Trebuchet MS"/>
                <a:cs typeface="Trebuchet MS"/>
              </a:rPr>
              <a:t>CONCLUSIONES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14079" y="0"/>
            <a:ext cx="3773919" cy="53463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144411"/>
            <a:ext cx="2560923" cy="69759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16100"/>
              </a:lnSpc>
              <a:spcBef>
                <a:spcPts val="100"/>
              </a:spcBef>
            </a:pPr>
            <a:r>
              <a:rPr dirty="0"/>
              <a:t>En</a:t>
            </a:r>
            <a:r>
              <a:rPr dirty="0" spc="-15"/>
              <a:t> </a:t>
            </a:r>
            <a:r>
              <a:rPr dirty="0"/>
              <a:t>conclusión</a:t>
            </a:r>
            <a:r>
              <a:rPr dirty="0" spc="-15"/>
              <a:t> </a:t>
            </a:r>
            <a:r>
              <a:rPr dirty="0" spc="75"/>
              <a:t>la</a:t>
            </a:r>
            <a:r>
              <a:rPr dirty="0" spc="-10"/>
              <a:t> </a:t>
            </a:r>
            <a:r>
              <a:rPr dirty="0" spc="50"/>
              <a:t>primera</a:t>
            </a:r>
            <a:r>
              <a:rPr dirty="0" spc="-15"/>
              <a:t> </a:t>
            </a:r>
            <a:r>
              <a:rPr dirty="0" spc="70"/>
              <a:t>fase</a:t>
            </a:r>
            <a:r>
              <a:rPr dirty="0" spc="-10"/>
              <a:t> </a:t>
            </a:r>
            <a:r>
              <a:rPr dirty="0"/>
              <a:t>del</a:t>
            </a:r>
            <a:r>
              <a:rPr dirty="0" spc="-15"/>
              <a:t> </a:t>
            </a:r>
            <a:r>
              <a:rPr dirty="0"/>
              <a:t>proyecto,</a:t>
            </a:r>
            <a:r>
              <a:rPr dirty="0" spc="-10"/>
              <a:t> </a:t>
            </a:r>
            <a:r>
              <a:rPr dirty="0" spc="45"/>
              <a:t>logramos </a:t>
            </a:r>
            <a:r>
              <a:rPr dirty="0"/>
              <a:t>estructurar</a:t>
            </a:r>
            <a:r>
              <a:rPr dirty="0" spc="10"/>
              <a:t> </a:t>
            </a:r>
            <a:r>
              <a:rPr dirty="0" spc="105"/>
              <a:t>una</a:t>
            </a:r>
            <a:r>
              <a:rPr dirty="0" spc="15"/>
              <a:t> </a:t>
            </a:r>
            <a:r>
              <a:rPr dirty="0"/>
              <a:t>solución</a:t>
            </a:r>
            <a:r>
              <a:rPr dirty="0" spc="15"/>
              <a:t> </a:t>
            </a:r>
            <a:r>
              <a:rPr dirty="0"/>
              <a:t>integral</a:t>
            </a:r>
            <a:r>
              <a:rPr dirty="0" spc="15"/>
              <a:t> </a:t>
            </a:r>
            <a:r>
              <a:rPr dirty="0" spc="125"/>
              <a:t>para</a:t>
            </a:r>
            <a:r>
              <a:rPr dirty="0" spc="15"/>
              <a:t> </a:t>
            </a:r>
            <a:r>
              <a:rPr dirty="0"/>
              <a:t>mitigar</a:t>
            </a:r>
            <a:r>
              <a:rPr dirty="0" spc="10"/>
              <a:t> </a:t>
            </a:r>
            <a:r>
              <a:rPr dirty="0"/>
              <a:t>el</a:t>
            </a:r>
            <a:r>
              <a:rPr dirty="0" spc="15"/>
              <a:t> </a:t>
            </a:r>
            <a:r>
              <a:rPr dirty="0"/>
              <a:t>riesgo</a:t>
            </a:r>
            <a:r>
              <a:rPr dirty="0" spc="15"/>
              <a:t> </a:t>
            </a:r>
            <a:r>
              <a:rPr dirty="0" spc="75"/>
              <a:t>de </a:t>
            </a:r>
            <a:r>
              <a:rPr dirty="0"/>
              <a:t>exposición</a:t>
            </a:r>
            <a:r>
              <a:rPr dirty="0" spc="40"/>
              <a:t> </a:t>
            </a:r>
            <a:r>
              <a:rPr dirty="0" spc="100"/>
              <a:t>de</a:t>
            </a:r>
            <a:r>
              <a:rPr dirty="0" spc="40"/>
              <a:t> </a:t>
            </a:r>
            <a:r>
              <a:rPr dirty="0"/>
              <a:t>información</a:t>
            </a:r>
            <a:r>
              <a:rPr dirty="0" spc="45"/>
              <a:t> </a:t>
            </a:r>
            <a:r>
              <a:rPr dirty="0"/>
              <a:t>sensible</a:t>
            </a:r>
            <a:r>
              <a:rPr dirty="0" spc="40"/>
              <a:t> </a:t>
            </a:r>
            <a:r>
              <a:rPr dirty="0" spc="75"/>
              <a:t>en</a:t>
            </a:r>
            <a:r>
              <a:rPr dirty="0" spc="40"/>
              <a:t> </a:t>
            </a:r>
            <a:r>
              <a:rPr dirty="0"/>
              <a:t>equipos</a:t>
            </a:r>
            <a:r>
              <a:rPr dirty="0" spc="45"/>
              <a:t> </a:t>
            </a:r>
            <a:r>
              <a:rPr dirty="0" spc="-10"/>
              <a:t>corporativos </a:t>
            </a:r>
            <a:r>
              <a:rPr dirty="0" spc="55"/>
              <a:t>Windows</a:t>
            </a:r>
            <a:r>
              <a:rPr dirty="0" spc="-35"/>
              <a:t> </a:t>
            </a:r>
            <a:r>
              <a:rPr dirty="0" spc="-400"/>
              <a:t>10/11,</a:t>
            </a:r>
            <a:r>
              <a:rPr dirty="0" spc="-35"/>
              <a:t> </a:t>
            </a:r>
            <a:r>
              <a:rPr dirty="0"/>
              <a:t>definiendo</a:t>
            </a:r>
            <a:r>
              <a:rPr dirty="0" spc="-35"/>
              <a:t> </a:t>
            </a:r>
            <a:r>
              <a:rPr dirty="0" spc="75"/>
              <a:t>la</a:t>
            </a:r>
            <a:r>
              <a:rPr dirty="0" spc="-30"/>
              <a:t> </a:t>
            </a:r>
            <a:r>
              <a:rPr dirty="0" spc="50"/>
              <a:t>arquitectura</a:t>
            </a:r>
            <a:r>
              <a:rPr dirty="0" spc="-35"/>
              <a:t> </a:t>
            </a:r>
            <a:r>
              <a:rPr dirty="0"/>
              <a:t>del</a:t>
            </a:r>
            <a:r>
              <a:rPr dirty="0" spc="-35"/>
              <a:t> </a:t>
            </a:r>
            <a:r>
              <a:rPr dirty="0"/>
              <a:t>sistema,</a:t>
            </a:r>
            <a:r>
              <a:rPr dirty="0" spc="-35"/>
              <a:t> </a:t>
            </a:r>
            <a:r>
              <a:rPr dirty="0"/>
              <a:t>el</a:t>
            </a:r>
            <a:r>
              <a:rPr dirty="0" spc="-30"/>
              <a:t> </a:t>
            </a:r>
            <a:r>
              <a:rPr dirty="0" spc="50"/>
              <a:t>modelo </a:t>
            </a:r>
            <a:r>
              <a:rPr dirty="0" spc="45"/>
              <a:t>relacional</a:t>
            </a:r>
            <a:r>
              <a:rPr dirty="0" spc="-30"/>
              <a:t> </a:t>
            </a:r>
            <a:r>
              <a:rPr dirty="0" spc="75"/>
              <a:t>y</a:t>
            </a:r>
            <a:r>
              <a:rPr dirty="0" spc="-25"/>
              <a:t> </a:t>
            </a:r>
            <a:r>
              <a:rPr dirty="0" spc="75"/>
              <a:t>la</a:t>
            </a:r>
            <a:r>
              <a:rPr dirty="0" spc="-25"/>
              <a:t> </a:t>
            </a:r>
            <a:r>
              <a:rPr dirty="0"/>
              <a:t>planificación</a:t>
            </a:r>
            <a:r>
              <a:rPr dirty="0" spc="-25"/>
              <a:t> </a:t>
            </a:r>
            <a:r>
              <a:rPr dirty="0" spc="254"/>
              <a:t>a</a:t>
            </a:r>
            <a:r>
              <a:rPr dirty="0" spc="-30"/>
              <a:t> </a:t>
            </a:r>
            <a:r>
              <a:rPr dirty="0" spc="-335"/>
              <a:t>18</a:t>
            </a:r>
            <a:r>
              <a:rPr dirty="0" spc="-25"/>
              <a:t> </a:t>
            </a:r>
            <a:r>
              <a:rPr dirty="0" spc="75"/>
              <a:t>semanas.</a:t>
            </a:r>
            <a:r>
              <a:rPr dirty="0" spc="-25"/>
              <a:t> </a:t>
            </a:r>
            <a:r>
              <a:rPr dirty="0"/>
              <a:t>La</a:t>
            </a:r>
            <a:r>
              <a:rPr dirty="0" spc="-25"/>
              <a:t> </a:t>
            </a:r>
            <a:r>
              <a:rPr dirty="0" spc="45"/>
              <a:t>articulación</a:t>
            </a:r>
            <a:r>
              <a:rPr dirty="0" spc="-30"/>
              <a:t> </a:t>
            </a:r>
            <a:r>
              <a:rPr dirty="0" spc="-25"/>
              <a:t>del </a:t>
            </a:r>
            <a:r>
              <a:rPr dirty="0"/>
              <a:t>equipo</a:t>
            </a:r>
            <a:r>
              <a:rPr dirty="0" spc="-35"/>
              <a:t> </a:t>
            </a:r>
            <a:r>
              <a:rPr dirty="0"/>
              <a:t>entre</a:t>
            </a:r>
            <a:r>
              <a:rPr dirty="0" spc="-30"/>
              <a:t> </a:t>
            </a:r>
            <a:r>
              <a:rPr dirty="0" spc="-20"/>
              <a:t>liderazgo,</a:t>
            </a:r>
            <a:r>
              <a:rPr dirty="0" spc="-35"/>
              <a:t> </a:t>
            </a:r>
            <a:r>
              <a:rPr dirty="0"/>
              <a:t>desarrollo</a:t>
            </a:r>
            <a:r>
              <a:rPr dirty="0" spc="-30"/>
              <a:t> </a:t>
            </a:r>
            <a:r>
              <a:rPr dirty="0" spc="100"/>
              <a:t>de</a:t>
            </a:r>
            <a:r>
              <a:rPr dirty="0" spc="-30"/>
              <a:t> </a:t>
            </a:r>
            <a:r>
              <a:rPr dirty="0" spc="65"/>
              <a:t>mockup</a:t>
            </a:r>
            <a:r>
              <a:rPr dirty="0" spc="-35"/>
              <a:t> </a:t>
            </a:r>
            <a:r>
              <a:rPr dirty="0" spc="100"/>
              <a:t>de</a:t>
            </a:r>
            <a:r>
              <a:rPr dirty="0" spc="-30"/>
              <a:t> </a:t>
            </a:r>
            <a:r>
              <a:rPr dirty="0" spc="-20"/>
              <a:t>interfaz</a:t>
            </a:r>
            <a:r>
              <a:rPr dirty="0" spc="-30"/>
              <a:t> </a:t>
            </a:r>
            <a:r>
              <a:rPr dirty="0" spc="25"/>
              <a:t>y </a:t>
            </a:r>
            <a:r>
              <a:rPr dirty="0" spc="50"/>
              <a:t>seguridad</a:t>
            </a:r>
            <a:r>
              <a:rPr dirty="0" spc="-50"/>
              <a:t> </a:t>
            </a:r>
            <a:r>
              <a:rPr dirty="0"/>
              <a:t>del</a:t>
            </a:r>
            <a:r>
              <a:rPr dirty="0" spc="-45"/>
              <a:t> </a:t>
            </a:r>
            <a:r>
              <a:rPr dirty="0" spc="45"/>
              <a:t>agente,</a:t>
            </a:r>
            <a:r>
              <a:rPr dirty="0" spc="-45"/>
              <a:t> </a:t>
            </a:r>
            <a:r>
              <a:rPr dirty="0" spc="135"/>
              <a:t>sumada</a:t>
            </a:r>
            <a:r>
              <a:rPr dirty="0" spc="-45"/>
              <a:t> </a:t>
            </a:r>
            <a:r>
              <a:rPr dirty="0" spc="75"/>
              <a:t>al</a:t>
            </a:r>
            <a:r>
              <a:rPr dirty="0" spc="-45"/>
              <a:t> </a:t>
            </a:r>
            <a:r>
              <a:rPr dirty="0" spc="114"/>
              <a:t>marco</a:t>
            </a:r>
            <a:r>
              <a:rPr dirty="0" spc="-45"/>
              <a:t> </a:t>
            </a:r>
            <a:r>
              <a:rPr dirty="0"/>
              <a:t>ágil</a:t>
            </a:r>
            <a:r>
              <a:rPr dirty="0" spc="-50"/>
              <a:t> </a:t>
            </a:r>
            <a:r>
              <a:rPr dirty="0"/>
              <a:t>Scrum.</a:t>
            </a:r>
            <a:r>
              <a:rPr dirty="0" spc="-45"/>
              <a:t> </a:t>
            </a:r>
            <a:r>
              <a:rPr dirty="0" spc="80"/>
              <a:t>Con</a:t>
            </a:r>
            <a:r>
              <a:rPr dirty="0" spc="-45"/>
              <a:t> </a:t>
            </a:r>
            <a:r>
              <a:rPr dirty="0" spc="-25"/>
              <a:t>los </a:t>
            </a:r>
            <a:r>
              <a:rPr dirty="0" spc="65"/>
              <a:t>diagramas,</a:t>
            </a:r>
            <a:r>
              <a:rPr dirty="0" spc="-95"/>
              <a:t> </a:t>
            </a:r>
            <a:r>
              <a:rPr dirty="0"/>
              <a:t>los</a:t>
            </a:r>
            <a:r>
              <a:rPr dirty="0" spc="-95"/>
              <a:t> </a:t>
            </a:r>
            <a:r>
              <a:rPr dirty="0" spc="55"/>
              <a:t>mockups</a:t>
            </a:r>
            <a:r>
              <a:rPr dirty="0" spc="-95"/>
              <a:t> </a:t>
            </a:r>
            <a:r>
              <a:rPr dirty="0" spc="75"/>
              <a:t>y</a:t>
            </a:r>
            <a:r>
              <a:rPr dirty="0" spc="-95"/>
              <a:t> </a:t>
            </a:r>
            <a:r>
              <a:rPr dirty="0" spc="75"/>
              <a:t>la</a:t>
            </a:r>
            <a:r>
              <a:rPr dirty="0" spc="-95"/>
              <a:t> </a:t>
            </a:r>
            <a:r>
              <a:rPr dirty="0" spc="80"/>
              <a:t>documentación</a:t>
            </a:r>
            <a:r>
              <a:rPr dirty="0" spc="-95"/>
              <a:t> </a:t>
            </a:r>
            <a:r>
              <a:rPr dirty="0" spc="100"/>
              <a:t>de</a:t>
            </a:r>
            <a:r>
              <a:rPr dirty="0" spc="-95"/>
              <a:t> </a:t>
            </a:r>
            <a:r>
              <a:rPr dirty="0" spc="-10"/>
              <a:t>diseño </a:t>
            </a:r>
            <a:r>
              <a:rPr dirty="0" spc="50"/>
              <a:t>completados,</a:t>
            </a:r>
            <a:r>
              <a:rPr dirty="0" spc="-80"/>
              <a:t> </a:t>
            </a:r>
            <a:r>
              <a:rPr dirty="0" spc="100"/>
              <a:t>quedamos</a:t>
            </a:r>
            <a:r>
              <a:rPr dirty="0" spc="-75"/>
              <a:t> </a:t>
            </a:r>
            <a:r>
              <a:rPr dirty="0" spc="45"/>
              <a:t>posicionados</a:t>
            </a:r>
            <a:r>
              <a:rPr dirty="0" spc="-75"/>
              <a:t> </a:t>
            </a:r>
            <a:r>
              <a:rPr dirty="0" spc="125"/>
              <a:t>para</a:t>
            </a:r>
            <a:r>
              <a:rPr dirty="0" spc="-80"/>
              <a:t> </a:t>
            </a:r>
            <a:r>
              <a:rPr dirty="0"/>
              <a:t>iniciar</a:t>
            </a:r>
            <a:r>
              <a:rPr dirty="0" spc="-75"/>
              <a:t> </a:t>
            </a:r>
            <a:r>
              <a:rPr dirty="0" spc="75"/>
              <a:t>la</a:t>
            </a:r>
            <a:r>
              <a:rPr dirty="0" spc="-75"/>
              <a:t> </a:t>
            </a:r>
            <a:r>
              <a:rPr dirty="0" spc="75"/>
              <a:t>Fase</a:t>
            </a:r>
            <a:r>
              <a:rPr dirty="0" spc="-80"/>
              <a:t> </a:t>
            </a:r>
            <a:r>
              <a:rPr dirty="0" spc="-25"/>
              <a:t>2, </a:t>
            </a:r>
            <a:r>
              <a:rPr dirty="0"/>
              <a:t>orientando</a:t>
            </a:r>
            <a:r>
              <a:rPr dirty="0" spc="-20"/>
              <a:t> </a:t>
            </a:r>
            <a:r>
              <a:rPr dirty="0"/>
              <a:t>el</a:t>
            </a:r>
            <a:r>
              <a:rPr dirty="0" spc="-15"/>
              <a:t> </a:t>
            </a:r>
            <a:r>
              <a:rPr dirty="0"/>
              <a:t>desarrollo</a:t>
            </a:r>
            <a:r>
              <a:rPr dirty="0" spc="-15"/>
              <a:t> </a:t>
            </a:r>
            <a:r>
              <a:rPr dirty="0"/>
              <a:t>directo</a:t>
            </a:r>
            <a:r>
              <a:rPr dirty="0" spc="-15"/>
              <a:t> </a:t>
            </a:r>
            <a:r>
              <a:rPr dirty="0" spc="254"/>
              <a:t>a</a:t>
            </a:r>
            <a:r>
              <a:rPr dirty="0" spc="-20"/>
              <a:t> </a:t>
            </a:r>
            <a:r>
              <a:rPr dirty="0" spc="75"/>
              <a:t>la</a:t>
            </a:r>
            <a:r>
              <a:rPr dirty="0" spc="-15"/>
              <a:t> </a:t>
            </a:r>
            <a:r>
              <a:rPr dirty="0" spc="-20"/>
              <a:t>API</a:t>
            </a:r>
            <a:r>
              <a:rPr dirty="0" spc="-15"/>
              <a:t> </a:t>
            </a:r>
            <a:r>
              <a:rPr dirty="0" spc="80"/>
              <a:t>Backend</a:t>
            </a:r>
            <a:r>
              <a:rPr dirty="0" spc="-15"/>
              <a:t> </a:t>
            </a:r>
            <a:r>
              <a:rPr dirty="0" spc="75"/>
              <a:t>en</a:t>
            </a:r>
            <a:r>
              <a:rPr dirty="0" spc="-15"/>
              <a:t> </a:t>
            </a:r>
            <a:r>
              <a:rPr dirty="0" spc="-10"/>
              <a:t>ASP.NET </a:t>
            </a:r>
            <a:r>
              <a:rPr dirty="0" spc="55"/>
              <a:t>Core</a:t>
            </a:r>
            <a:r>
              <a:rPr dirty="0" spc="-100"/>
              <a:t> </a:t>
            </a:r>
            <a:r>
              <a:rPr dirty="0" spc="75"/>
              <a:t>y</a:t>
            </a:r>
            <a:r>
              <a:rPr dirty="0" spc="-100"/>
              <a:t> </a:t>
            </a:r>
            <a:r>
              <a:rPr dirty="0" spc="75"/>
              <a:t>la</a:t>
            </a:r>
            <a:r>
              <a:rPr dirty="0" spc="-100"/>
              <a:t> </a:t>
            </a:r>
            <a:r>
              <a:rPr dirty="0" spc="114"/>
              <a:t>base</a:t>
            </a:r>
            <a:r>
              <a:rPr dirty="0" spc="-100"/>
              <a:t> </a:t>
            </a:r>
            <a:r>
              <a:rPr dirty="0" spc="100"/>
              <a:t>de</a:t>
            </a:r>
            <a:r>
              <a:rPr dirty="0" spc="-95"/>
              <a:t> </a:t>
            </a:r>
            <a:r>
              <a:rPr dirty="0" spc="70"/>
              <a:t>datos</a:t>
            </a:r>
            <a:r>
              <a:rPr dirty="0" spc="-100"/>
              <a:t> </a:t>
            </a:r>
            <a:r>
              <a:rPr dirty="0" spc="-10"/>
              <a:t>PostgreSQL.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781925" cy="10287000"/>
            <a:chOff x="0" y="0"/>
            <a:chExt cx="778192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070824"/>
              <a:ext cx="3887836" cy="521617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7781924" cy="1028699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44536" y="0"/>
            <a:ext cx="3143464" cy="4771067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473007" y="3240615"/>
            <a:ext cx="6033135" cy="2968625"/>
          </a:xfrm>
          <a:prstGeom prst="rect"/>
        </p:spPr>
        <p:txBody>
          <a:bodyPr wrap="square" lIns="0" tIns="240029" rIns="0" bIns="0" rtlCol="0" vert="horz">
            <a:spAutoFit/>
          </a:bodyPr>
          <a:lstStyle/>
          <a:p>
            <a:pPr marL="12700" marR="5080">
              <a:lnSpc>
                <a:spcPts val="10730"/>
              </a:lnSpc>
              <a:spcBef>
                <a:spcPts val="1889"/>
              </a:spcBef>
            </a:pPr>
            <a:r>
              <a:rPr dirty="0" sz="10350" spc="1015">
                <a:latin typeface="Trebuchet MS"/>
                <a:cs typeface="Trebuchet MS"/>
              </a:rPr>
              <a:t>MUCHAS </a:t>
            </a:r>
            <a:r>
              <a:rPr dirty="0" sz="10350" spc="860">
                <a:latin typeface="Trebuchet MS"/>
                <a:cs typeface="Trebuchet MS"/>
              </a:rPr>
              <a:t>GRACIAS</a:t>
            </a:r>
            <a:endParaRPr sz="10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KARLA PRISCILLA ORTEGA MUNOZ</dc:creator>
  <cp:keywords>DAHTyiuGo_c,BAF-kbP-qyI</cp:keywords>
  <dc:title>CAPSTONE</dc:title>
  <dcterms:created xsi:type="dcterms:W3CDTF">2026-09-21T13:29:17Z</dcterms:created>
  <dcterms:modified xsi:type="dcterms:W3CDTF">2026-09-21T13:29:17Z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2026-09-21T00:00:00Z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2026-09-21T00:00:00Z</vt:filetime>
  </property>
  <property fmtid="{D5CDD505-2E9C-101B-9397-08002B2CF9AE}" pid="6" name="Producer">
    <vt:lpwstr>Canva</vt:lpwstr>
  </property>
</Properties>
</file>